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10"/>
    <p:sldId id="259" r:id="rId11"/>
    <p:sldId id="260"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work;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Hello, and thanks for coming. I’m [Presenter name], and this is Agentic AI for Earth. In the next half hour you’ll see four short acts on a live stage, each with its own agent on Amazon Bedrock AgentCore. Each agent works through a question over real Earth observation data: it chains tools, reads the imagery, does the sums and drafts the answer. Then a person decides what happens next. Watch for where the agent’s work stops and ours begins.</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First,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legwork; a person makes the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Here’s the problem. We collect more Earth observation data than people can read. In Act 1, one question compares about 190,000 patches of New York State. In Act 2, the agent scans nine methane watch areas with one sensor in orbit, then checks the strongest with a sharper one. In Act 3, around a hundred vessels an hour broadcast inside one marine reserve. Nobody reads all that by hand. So the agent does the reading and the legwork, and shows its evidence. A person makes the call.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 are the four places we’ll 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jobs, one platform; candidates, never accusations.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Act 1, the Earth Analyst, finds a place, fetches a Sentinel-2 scene, looks at it, then measures plant health or water, or finds similar places. Act 2, the Methane Hunter, follows a satellite tip to a methane site, checks ground records and drafts a brief for an analyst. Act 3, Dark Vessels, compares a radar pass over the Galápagos with ship broadcasts, called AIS, and checks where those broadcasts can be heard. A silent target there is a candidate for a patrol, never an accusation. Act 4, the AI Archaeologist, reads LiDAR of earthworks already on the public record, and only those.</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Here’s how that’s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One runtime per agent; a person files.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Each agent is its own runtime on Amazon Bedrock AgentCore. A foundation model, Claude Sonnet 4.6 by default, reads the question and calls the agent’s tools, sometimes several at once: fetch a scene, compute an index, check a record. How freely it chooses varies: the Earth Analyst picks its own tools, dates and scenes; the archaeologist follows a set path over prepared LiDAR. All four share one map stage, drawn with MapLibre, an open-source map library, with session files in Amazon S3. The analyst files the brief and the officer approves the tasking; the backend enforces that, not the model.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So, what to watch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Steps, evidence, and nothing filed until a person approves.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Three things to watch. On the left, the agent’s steps, numbered and lit one at a time, with the images it looked at. In the middle, the map: each layer it lands is evidence you can check. And the moment a person decides. In the methane act, I’ll play the analyst and decide whether to file the draft brief. In the vessels act, I’ll play the officer and decide whether to approve the patrol tasking. Some steps take thirty seconds or more; that’s the agent working.</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Let’s start with the Earth Analyst.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Decorative limb"/>
          <p:cNvSpPr/>
          <p:nvPr/>
        </p:nvSpPr>
        <p:spPr>
          <a:xfrm>
            <a:off x="5760720" y="4572000"/>
            <a:ext cx="12070080" cy="12070080"/>
          </a:xfrm>
          <a:prstGeom prst="ellipse">
            <a:avLst/>
          </a:prstGeom>
          <a:solidFill>
            <a:srgbClr val="121923"/>
          </a:solidFill>
          <a:ln w="22225">
            <a:solidFill>
              <a:srgbClr val="2B4A66"/>
            </a:solidFill>
          </a:ln>
        </p:spPr>
        <p:txBody>
          <a:bodyPr rtlCol="0" anchor="ctr"/>
          <a:lstStyle/>
          <a:p>
            <a:pPr algn="ctr"/>
          </a:p>
        </p:txBody>
      </p:sp>
      <p:sp>
        <p:nvSpPr>
          <p:cNvPr id="3" name="Title"/>
          <p:cNvSpPr>
            <a:spLocks noGrp="1"/>
          </p:cNvSpPr>
          <p:nvPr>
            <p:ph type="title"/>
          </p:nvPr>
        </p:nvSpPr>
        <p:spPr>
          <a:xfrm>
            <a:off x="731520" y="1965960"/>
            <a:ext cx="9601200" cy="1005840"/>
          </a:xfrm>
          <a:prstGeom prst="rect">
            <a:avLst/>
          </a:prstGeom>
          <a:noFill/>
        </p:spPr>
        <p:txBody>
          <a:bodyPr wrap="square" lIns="0" rIns="0" tIns="0" bIns="0" anchor="t">
            <a:noAutofit/>
          </a:bodyPr>
          <a:lstStyle/>
          <a:p>
            <a:pPr algn="l">
              <a:lnSpc>
                <a:spcPct val="100000"/>
              </a:lnSpc>
              <a:spcBef>
                <a:spcPts val="0"/>
              </a:spcBef>
              <a:spcAft>
                <a:spcPts val="0"/>
              </a:spcAft>
            </a:pPr>
            <a:r>
              <a:rPr sz="6000" b="1" lang="en-GB">
                <a:solidFill>
                  <a:srgbClr val="E9EEF3"/>
                </a:solidFill>
                <a:latin typeface="Atkinson Hyperlegible"/>
                <a:ea typeface="Atkinson Hyperlegible"/>
                <a:cs typeface="Atkinson Hyperlegible"/>
              </a:rPr>
              <a:t>Agentic AI for Earth</a:t>
            </a:r>
          </a:p>
        </p:txBody>
      </p:sp>
      <p:sp>
        <p:nvSpPr>
          <p:cNvPr id="4" name="Amber rule"/>
          <p:cNvSpPr/>
          <p:nvPr/>
        </p:nvSpPr>
        <p:spPr>
          <a:xfrm>
            <a:off x="731520" y="3127248"/>
            <a:ext cx="1097280" cy="45720"/>
          </a:xfrm>
          <a:prstGeom prst="rect">
            <a:avLst/>
          </a:prstGeom>
          <a:solidFill>
            <a:srgbClr val="F5A524"/>
          </a:solidFill>
          <a:ln>
            <a:noFill/>
          </a:ln>
        </p:spPr>
        <p:txBody>
          <a:bodyPr rtlCol="0" anchor="ctr"/>
          <a:lstStyle/>
          <a:p>
            <a:pPr algn="ctr"/>
          </a:p>
        </p:txBody>
      </p:sp>
      <p:sp>
        <p:nvSpPr>
          <p:cNvPr id="5" name="Subtitle"/>
          <p:cNvSpPr txBox="1"/>
          <p:nvPr/>
        </p:nvSpPr>
        <p:spPr>
          <a:xfrm>
            <a:off x="731520" y="3364992"/>
            <a:ext cx="9601200" cy="548640"/>
          </a:xfrm>
          <a:prstGeom prst="rect">
            <a:avLst/>
          </a:prstGeom>
          <a:noFill/>
        </p:spPr>
        <p:txBody>
          <a:bodyPr wrap="square" lIns="0" rIns="0" tIns="0" bIns="0" anchor="t">
            <a:noAutofit/>
          </a:bodyPr>
          <a:lstStyle/>
          <a:p>
            <a:pPr algn="l">
              <a:lnSpc>
                <a:spcPct val="110000"/>
              </a:lnSpc>
              <a:spcBef>
                <a:spcPts val="0"/>
              </a:spcBef>
              <a:spcAft>
                <a:spcPts val="0"/>
              </a:spcAft>
            </a:pPr>
            <a:r>
              <a:rPr sz="2800" b="0" lang="en-GB">
                <a:solidFill>
                  <a:srgbClr val="E9EEF3"/>
                </a:solidFill>
                <a:latin typeface="Atkinson Hyperlegible"/>
                <a:ea typeface="Atkinson Hyperlegible"/>
                <a:cs typeface="Atkinson Hyperlegible"/>
              </a:rPr>
              <a:t>on Amazon Bedrock AgentCore</a:t>
            </a:r>
          </a:p>
        </p:txBody>
      </p:sp>
      <p:sp>
        <p:nvSpPr>
          <p:cNvPr id="6" name="Presenter and date"/>
          <p:cNvSpPr txBox="1"/>
          <p:nvPr/>
        </p:nvSpPr>
        <p:spPr>
          <a:xfrm>
            <a:off x="731520" y="5029200"/>
            <a:ext cx="5486400" cy="960120"/>
          </a:xfrm>
          <a:prstGeom prst="rect">
            <a:avLst/>
          </a:prstGeom>
          <a:noFill/>
        </p:spPr>
        <p:txBody>
          <a:bodyPr wrap="square" lIns="0" rIns="0" tIns="0" bIns="0" anchor="t">
            <a:noAutofit/>
          </a:bodyPr>
          <a:lstStyle/>
          <a:p>
            <a:pPr algn="l">
              <a:lnSpc>
                <a:spcPct val="110000"/>
              </a:lnSpc>
              <a:spcBef>
                <a:spcPts val="0"/>
              </a:spcBef>
              <a:spcAft>
                <a:spcPts val="600"/>
              </a:spcAft>
            </a:pPr>
            <a:r>
              <a:rPr sz="2400" b="0" lang="en-GB">
                <a:solidFill>
                  <a:srgbClr val="8FA3B8"/>
                </a:solidFill>
                <a:latin typeface="Atkinson Hyperlegible"/>
                <a:ea typeface="Atkinson Hyperlegible"/>
                <a:cs typeface="Atkinson Hyperlegible"/>
              </a:rPr>
              <a:t>Presenter name</a:t>
            </a:r>
          </a:p>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9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Why this matters</a:t>
            </a:r>
          </a:p>
        </p:txBody>
      </p:sp>
      <p:sp>
        <p:nvSpPr>
          <p:cNvPr id="3" name="Why 1"/>
          <p:cNvSpPr txBox="1"/>
          <p:nvPr/>
        </p:nvSpPr>
        <p:spPr>
          <a:xfrm>
            <a:off x="1280160" y="228600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More Earth observation data than people can read</a:t>
            </a:r>
          </a:p>
        </p:txBody>
      </p:sp>
      <p:sp>
        <p:nvSpPr>
          <p:cNvPr id="4" name="Why 2"/>
          <p:cNvSpPr txBox="1"/>
          <p:nvPr/>
        </p:nvSpPr>
        <p:spPr>
          <a:xfrm>
            <a:off x="1280160" y="345948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reading and the legwork</a:t>
            </a:r>
          </a:p>
        </p:txBody>
      </p:sp>
      <p:sp>
        <p:nvSpPr>
          <p:cNvPr id="5" name="Why 3"/>
          <p:cNvSpPr txBox="1"/>
          <p:nvPr/>
        </p:nvSpPr>
        <p:spPr>
          <a:xfrm>
            <a:off x="1280160" y="463296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A person makes the call</a:t>
            </a:r>
          </a:p>
        </p:txBody>
      </p:sp>
      <p:cxnSp>
        <p:nvCxnSpPr>
          <p:cNvPr id="6" name="Why rail"/>
          <p:cNvCxnSpPr/>
          <p:nvPr/>
        </p:nvCxnSpPr>
        <p:spPr>
          <a:xfrm>
            <a:off x="841248" y="2570480"/>
            <a:ext cx="0" cy="2346960"/>
          </a:xfrm>
          <a:prstGeom prst="line">
            <a:avLst/>
          </a:prstGeom>
          <a:ln w="19050">
            <a:solidFill>
              <a:srgbClr val="43484F"/>
            </a:solidFill>
          </a:ln>
        </p:spPr>
      </p:cxnSp>
      <p:sp>
        <p:nvSpPr>
          <p:cNvPr id="7" name="Why dot 1"/>
          <p:cNvSpPr/>
          <p:nvPr/>
        </p:nvSpPr>
        <p:spPr>
          <a:xfrm>
            <a:off x="749808" y="2479039"/>
            <a:ext cx="182880" cy="182880"/>
          </a:xfrm>
          <a:prstGeom prst="ellipse">
            <a:avLst/>
          </a:prstGeom>
          <a:solidFill>
            <a:srgbClr val="8FA3B8"/>
          </a:solidFill>
          <a:ln>
            <a:noFill/>
          </a:ln>
        </p:spPr>
        <p:txBody>
          <a:bodyPr rtlCol="0" anchor="ctr"/>
          <a:lstStyle/>
          <a:p>
            <a:pPr algn="ctr"/>
          </a:p>
        </p:txBody>
      </p:sp>
      <p:sp>
        <p:nvSpPr>
          <p:cNvPr id="8" name="Why dot 2"/>
          <p:cNvSpPr/>
          <p:nvPr/>
        </p:nvSpPr>
        <p:spPr>
          <a:xfrm>
            <a:off x="749808" y="3652519"/>
            <a:ext cx="182880" cy="182880"/>
          </a:xfrm>
          <a:prstGeom prst="ellipse">
            <a:avLst/>
          </a:prstGeom>
          <a:solidFill>
            <a:srgbClr val="8FA3B8"/>
          </a:solidFill>
          <a:ln>
            <a:noFill/>
          </a:ln>
        </p:spPr>
        <p:txBody>
          <a:bodyPr rtlCol="0" anchor="ctr"/>
          <a:lstStyle/>
          <a:p>
            <a:pPr algn="ctr"/>
          </a:p>
        </p:txBody>
      </p:sp>
      <p:sp>
        <p:nvSpPr>
          <p:cNvPr id="9" name="Why dot 3"/>
          <p:cNvSpPr/>
          <p:nvPr/>
        </p:nvSpPr>
        <p:spPr>
          <a:xfrm>
            <a:off x="731520" y="4807711"/>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Four acts, one map</a:t>
            </a:r>
          </a:p>
        </p:txBody>
      </p:sp>
      <p:pic>
        <p:nvPicPr>
          <p:cNvPr id="3" name="Act 1 screenshot" descr="Earth Analyst on the stage: a plant-health (NDVI) layer over Central Park, New York, inside a cyan boundary."/>
          <p:cNvPicPr>
            <a:picLocks noChangeAspect="1"/>
          </p:cNvPicPr>
          <p:nvPr/>
        </p:nvPicPr>
        <p:blipFill>
          <a:blip r:embed="rId2"/>
          <a:stretch>
            <a:fillRect/>
          </a:stretch>
        </p:blipFill>
        <p:spPr>
          <a:xfrm>
            <a:off x="731520" y="2057400"/>
            <a:ext cx="2531287" cy="1855334"/>
          </a:xfrm>
          <a:prstGeom prst="roundRect">
            <a:avLst>
              <a:gd name="adj" fmla="val 3500"/>
            </a:avLst>
          </a:prstGeom>
          <a:ln w="12700">
            <a:solidFill>
              <a:srgbClr val="43484F"/>
            </a:solidFill>
          </a:ln>
        </p:spPr>
      </p:pic>
      <p:sp>
        <p:nvSpPr>
          <p:cNvPr id="4" name="Act 1 number"/>
          <p:cNvSpPr/>
          <p:nvPr/>
        </p:nvSpPr>
        <p:spPr>
          <a:xfrm>
            <a:off x="832104"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5" name="Act 1 name"/>
          <p:cNvSpPr txBox="1"/>
          <p:nvPr/>
        </p:nvSpPr>
        <p:spPr>
          <a:xfrm>
            <a:off x="731520"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Earth Analyst</a:t>
            </a:r>
          </a:p>
        </p:txBody>
      </p:sp>
      <p:sp>
        <p:nvSpPr>
          <p:cNvPr id="6" name="Act 1 line"/>
          <p:cNvSpPr txBox="1"/>
          <p:nvPr/>
        </p:nvSpPr>
        <p:spPr>
          <a:xfrm>
            <a:off x="731520"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Reads imagery, finds similar places</a:t>
            </a:r>
          </a:p>
        </p:txBody>
      </p:sp>
      <p:pic>
        <p:nvPicPr>
          <p:cNvPr id="7" name="Act 2 screenshot" descr="Methane Hunter on the stage: a globe in space with repeat methane sites as dots and rings, and dashed watch-area outlines."/>
          <p:cNvPicPr>
            <a:picLocks noChangeAspect="1"/>
          </p:cNvPicPr>
          <p:nvPr/>
        </p:nvPicPr>
        <p:blipFill>
          <a:blip r:embed="rId3"/>
          <a:stretch>
            <a:fillRect/>
          </a:stretch>
        </p:blipFill>
        <p:spPr>
          <a:xfrm>
            <a:off x="3463975" y="2057400"/>
            <a:ext cx="2531287" cy="1855334"/>
          </a:xfrm>
          <a:prstGeom prst="roundRect">
            <a:avLst>
              <a:gd name="adj" fmla="val 3500"/>
            </a:avLst>
          </a:prstGeom>
          <a:ln w="12700">
            <a:solidFill>
              <a:srgbClr val="43484F"/>
            </a:solidFill>
          </a:ln>
        </p:spPr>
      </p:pic>
      <p:sp>
        <p:nvSpPr>
          <p:cNvPr id="8" name="Act 2 number"/>
          <p:cNvSpPr/>
          <p:nvPr/>
        </p:nvSpPr>
        <p:spPr>
          <a:xfrm>
            <a:off x="3564559"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9" name="Act 2 name"/>
          <p:cNvSpPr txBox="1"/>
          <p:nvPr/>
        </p:nvSpPr>
        <p:spPr>
          <a:xfrm>
            <a:off x="3463975"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Methane Hunter</a:t>
            </a:r>
          </a:p>
        </p:txBody>
      </p:sp>
      <p:sp>
        <p:nvSpPr>
          <p:cNvPr id="10" name="Act 2 line"/>
          <p:cNvSpPr txBox="1"/>
          <p:nvPr/>
        </p:nvSpPr>
        <p:spPr>
          <a:xfrm>
            <a:off x="3463975"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From satellite tip to draft brief</a:t>
            </a:r>
          </a:p>
        </p:txBody>
      </p:sp>
      <p:pic>
        <p:nvPicPr>
          <p:cNvPr id="11" name="Act 3 screenshot" descr="Dark Vessels on the stage: Santa Cruz and San Cristóbal in the Galápagos at night, radar targets as rings and four candidates in orchid marked no AIS."/>
          <p:cNvPicPr>
            <a:picLocks noChangeAspect="1"/>
          </p:cNvPicPr>
          <p:nvPr/>
        </p:nvPicPr>
        <p:blipFill>
          <a:blip r:embed="rId4"/>
          <a:stretch>
            <a:fillRect/>
          </a:stretch>
        </p:blipFill>
        <p:spPr>
          <a:xfrm>
            <a:off x="6196431" y="2057400"/>
            <a:ext cx="2531287" cy="1855334"/>
          </a:xfrm>
          <a:prstGeom prst="roundRect">
            <a:avLst>
              <a:gd name="adj" fmla="val 3500"/>
            </a:avLst>
          </a:prstGeom>
          <a:ln w="12700">
            <a:solidFill>
              <a:srgbClr val="43484F"/>
            </a:solidFill>
          </a:ln>
        </p:spPr>
      </p:pic>
      <p:sp>
        <p:nvSpPr>
          <p:cNvPr id="12" name="Act 3 number"/>
          <p:cNvSpPr/>
          <p:nvPr/>
        </p:nvSpPr>
        <p:spPr>
          <a:xfrm>
            <a:off x="6297015"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3</a:t>
            </a:r>
          </a:p>
        </p:txBody>
      </p:sp>
      <p:sp>
        <p:nvSpPr>
          <p:cNvPr id="13" name="Act 3 name"/>
          <p:cNvSpPr txBox="1"/>
          <p:nvPr/>
        </p:nvSpPr>
        <p:spPr>
          <a:xfrm>
            <a:off x="6196431"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Dark Vessels</a:t>
            </a:r>
          </a:p>
        </p:txBody>
      </p:sp>
      <p:sp>
        <p:nvSpPr>
          <p:cNvPr id="14" name="Act 3 line"/>
          <p:cNvSpPr txBox="1"/>
          <p:nvPr/>
        </p:nvSpPr>
        <p:spPr>
          <a:xfrm>
            <a:off x="6196431"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Radar candidates, never accusations</a:t>
            </a:r>
          </a:p>
        </p:txBody>
      </p:sp>
      <p:pic>
        <p:nvPicPr>
          <p:cNvPr id="15" name="Act 4 screenshot" descr="AI Archaeologist on the stage: 1 m LiDAR hillshade of the Newark Octagon and Great Circle, a World Heritage site."/>
          <p:cNvPicPr>
            <a:picLocks noChangeAspect="1"/>
          </p:cNvPicPr>
          <p:nvPr/>
        </p:nvPicPr>
        <p:blipFill>
          <a:blip r:embed="rId5"/>
          <a:stretch>
            <a:fillRect/>
          </a:stretch>
        </p:blipFill>
        <p:spPr>
          <a:xfrm>
            <a:off x="8928887" y="2057400"/>
            <a:ext cx="2531287" cy="1855334"/>
          </a:xfrm>
          <a:prstGeom prst="roundRect">
            <a:avLst>
              <a:gd name="adj" fmla="val 3500"/>
            </a:avLst>
          </a:prstGeom>
          <a:ln w="12700">
            <a:solidFill>
              <a:srgbClr val="43484F"/>
            </a:solidFill>
          </a:ln>
        </p:spPr>
      </p:pic>
      <p:sp>
        <p:nvSpPr>
          <p:cNvPr id="16" name="Act 4 number"/>
          <p:cNvSpPr/>
          <p:nvPr/>
        </p:nvSpPr>
        <p:spPr>
          <a:xfrm>
            <a:off x="9029471"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4</a:t>
            </a:r>
          </a:p>
        </p:txBody>
      </p:sp>
      <p:sp>
        <p:nvSpPr>
          <p:cNvPr id="17" name="Act 4 name"/>
          <p:cNvSpPr txBox="1"/>
          <p:nvPr/>
        </p:nvSpPr>
        <p:spPr>
          <a:xfrm>
            <a:off x="8928887"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AI Archaeologist</a:t>
            </a:r>
          </a:p>
        </p:txBody>
      </p:sp>
      <p:sp>
        <p:nvSpPr>
          <p:cNvPr id="18" name="Act 4 line"/>
          <p:cNvSpPr txBox="1"/>
          <p:nvPr/>
        </p:nvSpPr>
        <p:spPr>
          <a:xfrm>
            <a:off x="8928887"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LiDAR of known, public sites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How it’s built</a:t>
            </a:r>
          </a:p>
        </p:txBody>
      </p:sp>
      <p:sp>
        <p:nvSpPr>
          <p:cNvPr id="3" name="Built 1"/>
          <p:cNvSpPr txBox="1"/>
          <p:nvPr/>
        </p:nvSpPr>
        <p:spPr>
          <a:xfrm>
            <a:off x="1280160" y="1874519"/>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One AgentCore runtime per agent</a:t>
            </a:r>
          </a:p>
        </p:txBody>
      </p:sp>
      <p:sp>
        <p:nvSpPr>
          <p:cNvPr id="4" name="Built 2"/>
          <p:cNvSpPr txBox="1"/>
          <p:nvPr/>
        </p:nvSpPr>
        <p:spPr>
          <a:xfrm>
            <a:off x="1280160" y="2752344"/>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A foundation model calls tools</a:t>
            </a:r>
          </a:p>
        </p:txBody>
      </p:sp>
      <p:sp>
        <p:nvSpPr>
          <p:cNvPr id="5" name="Built 3"/>
          <p:cNvSpPr txBox="1"/>
          <p:nvPr/>
        </p:nvSpPr>
        <p:spPr>
          <a:xfrm>
            <a:off x="1280160" y="3630168"/>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Sentinel-2, methane sensors, radar and AIS, LiDAR</a:t>
            </a:r>
          </a:p>
        </p:txBody>
      </p:sp>
      <p:sp>
        <p:nvSpPr>
          <p:cNvPr id="6" name="Built 4"/>
          <p:cNvSpPr txBox="1"/>
          <p:nvPr/>
        </p:nvSpPr>
        <p:spPr>
          <a:xfrm>
            <a:off x="1280160" y="4507992"/>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Shared map stage, session files in S3</a:t>
            </a:r>
          </a:p>
        </p:txBody>
      </p:sp>
      <p:sp>
        <p:nvSpPr>
          <p:cNvPr id="7" name="Built 5"/>
          <p:cNvSpPr txBox="1"/>
          <p:nvPr/>
        </p:nvSpPr>
        <p:spPr>
          <a:xfrm>
            <a:off x="1280160" y="5385816"/>
            <a:ext cx="10180015" cy="411479"/>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Analyst files the brief, officer approves the tasking</a:t>
            </a:r>
          </a:p>
        </p:txBody>
      </p:sp>
      <p:cxnSp>
        <p:nvCxnSpPr>
          <p:cNvPr id="8" name="Built rail"/>
          <p:cNvCxnSpPr/>
          <p:nvPr/>
        </p:nvCxnSpPr>
        <p:spPr>
          <a:xfrm>
            <a:off x="841248" y="2087880"/>
            <a:ext cx="0" cy="3511296"/>
          </a:xfrm>
          <a:prstGeom prst="line">
            <a:avLst/>
          </a:prstGeom>
          <a:ln w="19050">
            <a:solidFill>
              <a:srgbClr val="43484F"/>
            </a:solidFill>
          </a:ln>
        </p:spPr>
      </p:cxnSp>
      <p:sp>
        <p:nvSpPr>
          <p:cNvPr id="9" name="Built dot 1"/>
          <p:cNvSpPr/>
          <p:nvPr/>
        </p:nvSpPr>
        <p:spPr>
          <a:xfrm>
            <a:off x="749808" y="1996439"/>
            <a:ext cx="182880" cy="182880"/>
          </a:xfrm>
          <a:prstGeom prst="ellipse">
            <a:avLst/>
          </a:prstGeom>
          <a:solidFill>
            <a:srgbClr val="8FA3B8"/>
          </a:solidFill>
          <a:ln>
            <a:noFill/>
          </a:ln>
        </p:spPr>
        <p:txBody>
          <a:bodyPr rtlCol="0" anchor="ctr"/>
          <a:lstStyle/>
          <a:p>
            <a:pPr algn="ctr"/>
          </a:p>
        </p:txBody>
      </p:sp>
      <p:sp>
        <p:nvSpPr>
          <p:cNvPr id="10" name="Built dot 2"/>
          <p:cNvSpPr/>
          <p:nvPr/>
        </p:nvSpPr>
        <p:spPr>
          <a:xfrm>
            <a:off x="749808" y="2874264"/>
            <a:ext cx="182880" cy="182880"/>
          </a:xfrm>
          <a:prstGeom prst="ellipse">
            <a:avLst/>
          </a:prstGeom>
          <a:solidFill>
            <a:srgbClr val="8FA3B8"/>
          </a:solidFill>
          <a:ln>
            <a:noFill/>
          </a:ln>
        </p:spPr>
        <p:txBody>
          <a:bodyPr rtlCol="0" anchor="ctr"/>
          <a:lstStyle/>
          <a:p>
            <a:pPr algn="ctr"/>
          </a:p>
        </p:txBody>
      </p:sp>
      <p:sp>
        <p:nvSpPr>
          <p:cNvPr id="11" name="Built dot 3"/>
          <p:cNvSpPr/>
          <p:nvPr/>
        </p:nvSpPr>
        <p:spPr>
          <a:xfrm>
            <a:off x="749808" y="3752088"/>
            <a:ext cx="182880" cy="182880"/>
          </a:xfrm>
          <a:prstGeom prst="ellipse">
            <a:avLst/>
          </a:prstGeom>
          <a:solidFill>
            <a:srgbClr val="8FA3B8"/>
          </a:solidFill>
          <a:ln>
            <a:noFill/>
          </a:ln>
        </p:spPr>
        <p:txBody>
          <a:bodyPr rtlCol="0" anchor="ctr"/>
          <a:lstStyle/>
          <a:p>
            <a:pPr algn="ctr"/>
          </a:p>
        </p:txBody>
      </p:sp>
      <p:sp>
        <p:nvSpPr>
          <p:cNvPr id="12" name="Built dot 4"/>
          <p:cNvSpPr/>
          <p:nvPr/>
        </p:nvSpPr>
        <p:spPr>
          <a:xfrm>
            <a:off x="749808" y="4629912"/>
            <a:ext cx="182880" cy="182880"/>
          </a:xfrm>
          <a:prstGeom prst="ellipse">
            <a:avLst/>
          </a:prstGeom>
          <a:solidFill>
            <a:srgbClr val="8FA3B8"/>
          </a:solidFill>
          <a:ln>
            <a:noFill/>
          </a:ln>
        </p:spPr>
        <p:txBody>
          <a:bodyPr rtlCol="0" anchor="ctr"/>
          <a:lstStyle/>
          <a:p>
            <a:pPr algn="ctr"/>
          </a:p>
        </p:txBody>
      </p:sp>
      <p:sp>
        <p:nvSpPr>
          <p:cNvPr id="13" name="Built dot 5"/>
          <p:cNvSpPr/>
          <p:nvPr/>
        </p:nvSpPr>
        <p:spPr>
          <a:xfrm>
            <a:off x="731520" y="5489448"/>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What to watch for</a:t>
            </a:r>
          </a:p>
        </p:txBody>
      </p:sp>
      <p:sp>
        <p:nvSpPr>
          <p:cNvPr id="3" name="Watch marker 1"/>
          <p:cNvSpPr/>
          <p:nvPr/>
        </p:nvSpPr>
        <p:spPr>
          <a:xfrm>
            <a:off x="731520" y="216712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4" name="Watch 1"/>
          <p:cNvSpPr txBox="1"/>
          <p:nvPr/>
        </p:nvSpPr>
        <p:spPr>
          <a:xfrm>
            <a:off x="1417320" y="215798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agent’s steps, on the left</a:t>
            </a:r>
          </a:p>
        </p:txBody>
      </p:sp>
      <p:sp>
        <p:nvSpPr>
          <p:cNvPr id="5" name="Watch marker 2"/>
          <p:cNvSpPr/>
          <p:nvPr/>
        </p:nvSpPr>
        <p:spPr>
          <a:xfrm>
            <a:off x="731520" y="326440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6" name="Watch 2"/>
          <p:cNvSpPr txBox="1"/>
          <p:nvPr/>
        </p:nvSpPr>
        <p:spPr>
          <a:xfrm>
            <a:off x="1417320" y="3255263"/>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map, where the evidence lands</a:t>
            </a:r>
          </a:p>
        </p:txBody>
      </p:sp>
      <p:sp>
        <p:nvSpPr>
          <p:cNvPr id="7" name="Watch marker 3"/>
          <p:cNvSpPr/>
          <p:nvPr/>
        </p:nvSpPr>
        <p:spPr>
          <a:xfrm>
            <a:off x="731520" y="4361688"/>
            <a:ext cx="420624" cy="420624"/>
          </a:xfrm>
          <a:prstGeom prst="ellipse">
            <a:avLst/>
          </a:prstGeom>
          <a:solidFill>
            <a:srgbClr val="F5A524"/>
          </a:solidFill>
          <a:ln>
            <a:noFill/>
          </a:ln>
        </p:spPr>
        <p:txBody>
          <a:bodyPr rtlCol="0" anchor="ctr" lIns="0" rIns="0" tIns="0" bIns="0" wrap="none"/>
          <a:lstStyle/>
          <a:p>
            <a:pPr algn="ctr"/>
            <a:r>
              <a:rPr sz="2000" b="1" lang="en-GB">
                <a:solidFill>
                  <a:srgbClr val="0F141B"/>
                </a:solidFill>
                <a:latin typeface="Menlo"/>
                <a:ea typeface="Menlo"/>
                <a:cs typeface="Menlo"/>
              </a:rPr>
              <a:t>3</a:t>
            </a:r>
          </a:p>
        </p:txBody>
      </p:sp>
      <p:sp>
        <p:nvSpPr>
          <p:cNvPr id="8" name="Watch 3"/>
          <p:cNvSpPr txBox="1"/>
          <p:nvPr/>
        </p:nvSpPr>
        <p:spPr>
          <a:xfrm>
            <a:off x="1417320" y="435254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moment a person decides</a:t>
            </a:r>
          </a:p>
        </p:txBody>
      </p:sp>
      <p:sp>
        <p:nvSpPr>
          <p:cNvPr id="9" name="Stage frame"/>
          <p:cNvSpPr/>
          <p:nvPr/>
        </p:nvSpPr>
        <p:spPr>
          <a:xfrm>
            <a:off x="6949440" y="2206075"/>
            <a:ext cx="4510735" cy="2537288"/>
          </a:xfrm>
          <a:prstGeom prst="roundRect">
            <a:avLst>
              <a:gd name="adj" fmla="val 3000"/>
            </a:avLst>
          </a:prstGeom>
          <a:solidFill>
            <a:srgbClr val="121923"/>
          </a:solidFill>
          <a:ln w="12700">
            <a:solidFill>
              <a:srgbClr val="43484F"/>
            </a:solidFill>
          </a:ln>
        </p:spPr>
        <p:txBody>
          <a:bodyPr rtlCol="0" anchor="ctr"/>
          <a:lstStyle/>
          <a:p>
            <a:pPr algn="ctr"/>
          </a:p>
        </p:txBody>
      </p:sp>
      <p:sp>
        <p:nvSpPr>
          <p:cNvPr id="10" name="Stage rail"/>
          <p:cNvSpPr/>
          <p:nvPr/>
        </p:nvSpPr>
        <p:spPr>
          <a:xfrm>
            <a:off x="6958583" y="2215219"/>
            <a:ext cx="4492447" cy="182880"/>
          </a:xfrm>
          <a:prstGeom prst="rect">
            <a:avLst/>
          </a:prstGeom>
          <a:solidFill>
            <a:srgbClr val="161C25"/>
          </a:solidFill>
          <a:ln>
            <a:noFill/>
          </a:ln>
        </p:spPr>
        <p:txBody>
          <a:bodyPr rtlCol="0" anchor="ctr"/>
          <a:lstStyle/>
          <a:p>
            <a:pPr algn="ctr"/>
          </a:p>
        </p:txBody>
      </p:sp>
      <p:sp>
        <p:nvSpPr>
          <p:cNvPr id="11" name="Step column"/>
          <p:cNvSpPr/>
          <p:nvPr/>
        </p:nvSpPr>
        <p:spPr>
          <a:xfrm>
            <a:off x="7077455" y="2516971"/>
            <a:ext cx="1097280" cy="1970360"/>
          </a:xfrm>
          <a:prstGeom prst="roundRect">
            <a:avLst>
              <a:gd name="adj" fmla="val 6000"/>
            </a:avLst>
          </a:prstGeom>
          <a:solidFill>
            <a:srgbClr val="1D2530"/>
          </a:solidFill>
          <a:ln w="12700">
            <a:solidFill>
              <a:srgbClr val="2E3339"/>
            </a:solidFill>
          </a:ln>
        </p:spPr>
        <p:txBody>
          <a:bodyPr rtlCol="0" anchor="ctr"/>
          <a:lstStyle/>
          <a:p>
            <a:pPr algn="ctr"/>
          </a:p>
        </p:txBody>
      </p:sp>
      <p:sp>
        <p:nvSpPr>
          <p:cNvPr id="12" name="Step dot 1"/>
          <p:cNvSpPr/>
          <p:nvPr/>
        </p:nvSpPr>
        <p:spPr>
          <a:xfrm>
            <a:off x="7187183" y="2773003"/>
            <a:ext cx="73152" cy="73152"/>
          </a:xfrm>
          <a:prstGeom prst="ellipse">
            <a:avLst/>
          </a:prstGeom>
          <a:solidFill>
            <a:srgbClr val="8FA3B8"/>
          </a:solidFill>
          <a:ln>
            <a:noFill/>
          </a:ln>
        </p:spPr>
        <p:txBody>
          <a:bodyPr rtlCol="0" anchor="ctr"/>
          <a:lstStyle/>
          <a:p>
            <a:pPr algn="ctr"/>
          </a:p>
        </p:txBody>
      </p:sp>
      <p:sp>
        <p:nvSpPr>
          <p:cNvPr id="13" name="Step row 1"/>
          <p:cNvSpPr/>
          <p:nvPr/>
        </p:nvSpPr>
        <p:spPr>
          <a:xfrm>
            <a:off x="7333488" y="2786719"/>
            <a:ext cx="713232" cy="45720"/>
          </a:xfrm>
          <a:prstGeom prst="rect">
            <a:avLst/>
          </a:prstGeom>
          <a:solidFill>
            <a:srgbClr val="43484F"/>
          </a:solidFill>
          <a:ln>
            <a:noFill/>
          </a:ln>
        </p:spPr>
        <p:txBody>
          <a:bodyPr rtlCol="0" anchor="ctr"/>
          <a:lstStyle/>
          <a:p>
            <a:pPr algn="ctr"/>
          </a:p>
        </p:txBody>
      </p:sp>
      <p:sp>
        <p:nvSpPr>
          <p:cNvPr id="14" name="Step dot 2"/>
          <p:cNvSpPr/>
          <p:nvPr/>
        </p:nvSpPr>
        <p:spPr>
          <a:xfrm>
            <a:off x="7187183" y="3047323"/>
            <a:ext cx="73152" cy="73152"/>
          </a:xfrm>
          <a:prstGeom prst="ellipse">
            <a:avLst/>
          </a:prstGeom>
          <a:solidFill>
            <a:srgbClr val="8FA3B8"/>
          </a:solidFill>
          <a:ln>
            <a:noFill/>
          </a:ln>
        </p:spPr>
        <p:txBody>
          <a:bodyPr rtlCol="0" anchor="ctr"/>
          <a:lstStyle/>
          <a:p>
            <a:pPr algn="ctr"/>
          </a:p>
        </p:txBody>
      </p:sp>
      <p:sp>
        <p:nvSpPr>
          <p:cNvPr id="15" name="Step row 2"/>
          <p:cNvSpPr/>
          <p:nvPr/>
        </p:nvSpPr>
        <p:spPr>
          <a:xfrm>
            <a:off x="7333488" y="3061039"/>
            <a:ext cx="548640" cy="45720"/>
          </a:xfrm>
          <a:prstGeom prst="rect">
            <a:avLst/>
          </a:prstGeom>
          <a:solidFill>
            <a:srgbClr val="43484F"/>
          </a:solidFill>
          <a:ln>
            <a:noFill/>
          </a:ln>
        </p:spPr>
        <p:txBody>
          <a:bodyPr rtlCol="0" anchor="ctr"/>
          <a:lstStyle/>
          <a:p>
            <a:pPr algn="ctr"/>
          </a:p>
        </p:txBody>
      </p:sp>
      <p:sp>
        <p:nvSpPr>
          <p:cNvPr id="16" name="Step dot 3"/>
          <p:cNvSpPr/>
          <p:nvPr/>
        </p:nvSpPr>
        <p:spPr>
          <a:xfrm>
            <a:off x="7187183" y="3321643"/>
            <a:ext cx="73152" cy="73152"/>
          </a:xfrm>
          <a:prstGeom prst="ellipse">
            <a:avLst/>
          </a:prstGeom>
          <a:solidFill>
            <a:srgbClr val="8FA3B8"/>
          </a:solidFill>
          <a:ln>
            <a:noFill/>
          </a:ln>
        </p:spPr>
        <p:txBody>
          <a:bodyPr rtlCol="0" anchor="ctr"/>
          <a:lstStyle/>
          <a:p>
            <a:pPr algn="ctr"/>
          </a:p>
        </p:txBody>
      </p:sp>
      <p:sp>
        <p:nvSpPr>
          <p:cNvPr id="17" name="Step row 3"/>
          <p:cNvSpPr/>
          <p:nvPr/>
        </p:nvSpPr>
        <p:spPr>
          <a:xfrm>
            <a:off x="7333488" y="3335359"/>
            <a:ext cx="713232" cy="45720"/>
          </a:xfrm>
          <a:prstGeom prst="rect">
            <a:avLst/>
          </a:prstGeom>
          <a:solidFill>
            <a:srgbClr val="43484F"/>
          </a:solidFill>
          <a:ln>
            <a:noFill/>
          </a:ln>
        </p:spPr>
        <p:txBody>
          <a:bodyPr rtlCol="0" anchor="ctr"/>
          <a:lstStyle/>
          <a:p>
            <a:pPr algn="ctr"/>
          </a:p>
        </p:txBody>
      </p:sp>
      <p:sp>
        <p:nvSpPr>
          <p:cNvPr id="18" name="Step dot 4"/>
          <p:cNvSpPr/>
          <p:nvPr/>
        </p:nvSpPr>
        <p:spPr>
          <a:xfrm>
            <a:off x="7187183" y="3595963"/>
            <a:ext cx="73152" cy="73152"/>
          </a:xfrm>
          <a:prstGeom prst="ellipse">
            <a:avLst/>
          </a:prstGeom>
          <a:solidFill>
            <a:srgbClr val="E9EEF3"/>
          </a:solidFill>
          <a:ln>
            <a:noFill/>
          </a:ln>
        </p:spPr>
        <p:txBody>
          <a:bodyPr rtlCol="0" anchor="ctr"/>
          <a:lstStyle/>
          <a:p>
            <a:pPr algn="ctr"/>
          </a:p>
        </p:txBody>
      </p:sp>
      <p:sp>
        <p:nvSpPr>
          <p:cNvPr id="19" name="Step row 4"/>
          <p:cNvSpPr/>
          <p:nvPr/>
        </p:nvSpPr>
        <p:spPr>
          <a:xfrm>
            <a:off x="7333488" y="3609679"/>
            <a:ext cx="548640" cy="45720"/>
          </a:xfrm>
          <a:prstGeom prst="rect">
            <a:avLst/>
          </a:prstGeom>
          <a:solidFill>
            <a:srgbClr val="E9EEF3"/>
          </a:solidFill>
          <a:ln>
            <a:noFill/>
          </a:ln>
        </p:spPr>
        <p:txBody>
          <a:bodyPr rtlCol="0" anchor="ctr"/>
          <a:lstStyle/>
          <a:p>
            <a:pPr algn="ctr"/>
          </a:p>
        </p:txBody>
      </p:sp>
      <p:sp>
        <p:nvSpPr>
          <p:cNvPr id="20" name="Step dot 5"/>
          <p:cNvSpPr/>
          <p:nvPr/>
        </p:nvSpPr>
        <p:spPr>
          <a:xfrm>
            <a:off x="7187183" y="3870283"/>
            <a:ext cx="73152" cy="73152"/>
          </a:xfrm>
          <a:prstGeom prst="ellipse">
            <a:avLst/>
          </a:prstGeom>
          <a:solidFill>
            <a:srgbClr val="8FA3B8"/>
          </a:solidFill>
          <a:ln>
            <a:noFill/>
          </a:ln>
        </p:spPr>
        <p:txBody>
          <a:bodyPr rtlCol="0" anchor="ctr"/>
          <a:lstStyle/>
          <a:p>
            <a:pPr algn="ctr"/>
          </a:p>
        </p:txBody>
      </p:sp>
      <p:sp>
        <p:nvSpPr>
          <p:cNvPr id="21" name="Step row 5"/>
          <p:cNvSpPr/>
          <p:nvPr/>
        </p:nvSpPr>
        <p:spPr>
          <a:xfrm>
            <a:off x="7333488" y="3883999"/>
            <a:ext cx="713232" cy="45720"/>
          </a:xfrm>
          <a:prstGeom prst="rect">
            <a:avLst/>
          </a:prstGeom>
          <a:solidFill>
            <a:srgbClr val="43484F"/>
          </a:solidFill>
          <a:ln>
            <a:noFill/>
          </a:ln>
        </p:spPr>
        <p:txBody>
          <a:bodyPr rtlCol="0" anchor="ctr"/>
          <a:lstStyle/>
          <a:p>
            <a:pPr algn="ctr"/>
          </a:p>
        </p:txBody>
      </p:sp>
      <p:sp>
        <p:nvSpPr>
          <p:cNvPr id="22" name="Step dot 6"/>
          <p:cNvSpPr/>
          <p:nvPr/>
        </p:nvSpPr>
        <p:spPr>
          <a:xfrm>
            <a:off x="7187183" y="4144603"/>
            <a:ext cx="73152" cy="73152"/>
          </a:xfrm>
          <a:prstGeom prst="ellipse">
            <a:avLst/>
          </a:prstGeom>
          <a:solidFill>
            <a:srgbClr val="8FA3B8"/>
          </a:solidFill>
          <a:ln>
            <a:noFill/>
          </a:ln>
        </p:spPr>
        <p:txBody>
          <a:bodyPr rtlCol="0" anchor="ctr"/>
          <a:lstStyle/>
          <a:p>
            <a:pPr algn="ctr"/>
          </a:p>
        </p:txBody>
      </p:sp>
      <p:sp>
        <p:nvSpPr>
          <p:cNvPr id="23" name="Step row 6"/>
          <p:cNvSpPr/>
          <p:nvPr/>
        </p:nvSpPr>
        <p:spPr>
          <a:xfrm>
            <a:off x="7333488" y="4158319"/>
            <a:ext cx="548640" cy="45720"/>
          </a:xfrm>
          <a:prstGeom prst="rect">
            <a:avLst/>
          </a:prstGeom>
          <a:solidFill>
            <a:srgbClr val="43484F"/>
          </a:solidFill>
          <a:ln>
            <a:noFill/>
          </a:ln>
        </p:spPr>
        <p:txBody>
          <a:bodyPr rtlCol="0" anchor="ctr"/>
          <a:lstStyle/>
          <a:p>
            <a:pPr algn="ctr"/>
          </a:p>
        </p:txBody>
      </p:sp>
      <p:sp>
        <p:nvSpPr>
          <p:cNvPr id="24" name="Evidence outline"/>
          <p:cNvSpPr/>
          <p:nvPr/>
        </p:nvSpPr>
        <p:spPr>
          <a:xfrm>
            <a:off x="9098280" y="2846155"/>
            <a:ext cx="1828800" cy="1371600"/>
          </a:xfrm>
          <a:custGeom>
            <a:avLst/>
            <a:gdLst/>
            <a:ahLst/>
            <a:cxnLst/>
            <a:rect l="l" t="t" r="r" b="b"/>
            <a:pathLst>
              <a:path w="1828800" h="1371600">
                <a:moveTo>
                  <a:pt x="182879" y="137160"/>
                </a:moveTo>
                <a:lnTo>
                  <a:pt x="1143000" y="0"/>
                </a:lnTo>
                <a:lnTo>
                  <a:pt x="1828800" y="502920"/>
                </a:lnTo>
                <a:lnTo>
                  <a:pt x="1600200" y="1234440"/>
                </a:lnTo>
                <a:lnTo>
                  <a:pt x="594360" y="1371600"/>
                </a:lnTo>
                <a:lnTo>
                  <a:pt x="0" y="822960"/>
                </a:lnTo>
                <a:close/>
              </a:path>
            </a:pathLst>
          </a:custGeom>
          <a:noFill/>
          <a:ln w="19050">
            <a:solidFill>
              <a:srgbClr val="E9EEF3"/>
            </a:solidFill>
            <a:prstDash val="dash"/>
          </a:ln>
        </p:spPr>
        <p:txBody>
          <a:bodyPr rtlCol="0" anchor="ctr"/>
          <a:lstStyle/>
          <a:p>
            <a:pPr algn="ctr"/>
          </a:p>
        </p:txBody>
      </p:sp>
      <p:sp>
        <p:nvSpPr>
          <p:cNvPr id="25" name="Evidence site"/>
          <p:cNvSpPr/>
          <p:nvPr/>
        </p:nvSpPr>
        <p:spPr>
          <a:xfrm>
            <a:off x="9880092" y="3399367"/>
            <a:ext cx="82296" cy="82296"/>
          </a:xfrm>
          <a:prstGeom prst="ellipse">
            <a:avLst/>
          </a:prstGeom>
          <a:solidFill>
            <a:srgbClr val="E9EEF3"/>
          </a:solidFill>
          <a:ln>
            <a:noFill/>
          </a:ln>
        </p:spPr>
        <p:txBody>
          <a:bodyPr rtlCol="0" anchor="ctr"/>
          <a:lstStyle/>
          <a:p>
            <a:pPr algn="ctr"/>
          </a:p>
        </p:txBody>
      </p:sp>
      <p:sp>
        <p:nvSpPr>
          <p:cNvPr id="26" name="Evidence site"/>
          <p:cNvSpPr/>
          <p:nvPr/>
        </p:nvSpPr>
        <p:spPr>
          <a:xfrm>
            <a:off x="10291572" y="3673687"/>
            <a:ext cx="82296" cy="82296"/>
          </a:xfrm>
          <a:prstGeom prst="ellipse">
            <a:avLst/>
          </a:prstGeom>
          <a:solidFill>
            <a:srgbClr val="E9EEF3"/>
          </a:solidFill>
          <a:ln>
            <a:noFill/>
          </a:ln>
        </p:spPr>
        <p:txBody>
          <a:bodyPr rtlCol="0" anchor="ctr"/>
          <a:lstStyle/>
          <a:p>
            <a:pPr algn="ctr"/>
          </a:p>
        </p:txBody>
      </p:sp>
      <p:sp>
        <p:nvSpPr>
          <p:cNvPr id="27" name="Evidence site"/>
          <p:cNvSpPr/>
          <p:nvPr/>
        </p:nvSpPr>
        <p:spPr>
          <a:xfrm>
            <a:off x="9605772" y="3765127"/>
            <a:ext cx="82296" cy="82296"/>
          </a:xfrm>
          <a:prstGeom prst="ellipse">
            <a:avLst/>
          </a:prstGeom>
          <a:solidFill>
            <a:srgbClr val="E9EEF3"/>
          </a:solidFill>
          <a:ln>
            <a:noFill/>
          </a:ln>
        </p:spPr>
        <p:txBody>
          <a:bodyPr rtlCol="0" anchor="ctr"/>
          <a:lstStyle/>
          <a:p>
            <a:pPr algn="ctr"/>
          </a:p>
        </p:txBody>
      </p:sp>
      <p:sp>
        <p:nvSpPr>
          <p:cNvPr id="28" name="Evidence site"/>
          <p:cNvSpPr/>
          <p:nvPr/>
        </p:nvSpPr>
        <p:spPr>
          <a:xfrm>
            <a:off x="10474452" y="3170767"/>
            <a:ext cx="82296" cy="82296"/>
          </a:xfrm>
          <a:prstGeom prst="ellipse">
            <a:avLst/>
          </a:prstGeom>
          <a:solidFill>
            <a:srgbClr val="E9EEF3"/>
          </a:solidFill>
          <a:ln>
            <a:noFill/>
          </a:ln>
        </p:spPr>
        <p:txBody>
          <a:bodyPr rtlCol="0" anchor="ctr"/>
          <a:lstStyle/>
          <a:p>
            <a:pPr algn="ctr"/>
          </a:p>
        </p:txBody>
      </p:sp>
      <p:sp>
        <p:nvSpPr>
          <p:cNvPr id="29" name="Console"/>
          <p:cNvSpPr/>
          <p:nvPr/>
        </p:nvSpPr>
        <p:spPr>
          <a:xfrm>
            <a:off x="8549640" y="4414180"/>
            <a:ext cx="2133295" cy="201168"/>
          </a:xfrm>
          <a:prstGeom prst="roundRect">
            <a:avLst>
              <a:gd name="adj" fmla="val 30000"/>
            </a:avLst>
          </a:prstGeom>
          <a:solidFill>
            <a:srgbClr val="161C25"/>
          </a:solidFill>
          <a:ln w="12700">
            <a:solidFill>
              <a:srgbClr val="2E3339"/>
            </a:solidFill>
          </a:ln>
        </p:spPr>
        <p:txBody>
          <a:bodyPr rtlCol="0" anchor="ctr"/>
          <a:lstStyle/>
          <a:p>
            <a:pPr algn="ctr"/>
          </a:p>
        </p:txBody>
      </p:sp>
      <p:sp>
        <p:nvSpPr>
          <p:cNvPr id="30" name="Schematic marker 1"/>
          <p:cNvSpPr/>
          <p:nvPr/>
        </p:nvSpPr>
        <p:spPr>
          <a:xfrm>
            <a:off x="7982711" y="2507827"/>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31" name="Schematic marker 2"/>
          <p:cNvSpPr/>
          <p:nvPr/>
        </p:nvSpPr>
        <p:spPr>
          <a:xfrm>
            <a:off x="10826496" y="2580979"/>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tkinson Hyperlegib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Earth</dc:title>
  <dc:subject>Intro deck for the live demo, 9 November 2026</dc:subject>
  <dc:creator/>
  <cp:keywords>Amazon Bedrock AgentCore; Earth observation; demo</cp:keywords>
  <dc:description>generated using python-pptx</dc:description>
  <cp:lastModifiedBy/>
  <cp:revision>1</cp:revision>
  <dcterms:created xsi:type="dcterms:W3CDTF">2013-01-27T09:14:16Z</dcterms:created>
  <dcterms:modified xsi:type="dcterms:W3CDTF">2013-01-27T09:15:58Z</dcterms:modified>
  <cp:category/>
  <dc:language>en-GB</dc:language>
</cp:coreProperties>
</file>