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There is more Earth data than people can read, so the agent reads and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Satellites photograph the whole planet again every few days, from dozens of missions, and most of it is never looked at closely by a person. The bottleneck isn’t the data, it’s people’s time to read it. So we hand the reading and the legwork to an agent: it finds the right data, looks at it, measures,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see that.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different jobs, one platform.</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target that isn’t broadcasting there becomes a reason for a patrol to look. The agent predicts where to look next, and the officer decides whether to send one.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that’s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agents, one model;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Left to right. I ask a question on the stage, a web app on AWS Fargate behind Amazon CloudFront. It goes to one of four agents, each on its own Amazon Bedrock AgentCore runtime, all using one model, Claude Sonnet 4.6. They read satellite imagery, Clay embeddings and Esri’s maps live; the methane data, radar, ship broadcasts and LiDAR are prepared ahead and cached in S3. Nothing is filed until a person decides; then it posts to Slack. For the technical half: Strands agents, streaming each step to the stage, with session files in S3.</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So, what to watch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Steps, evidence, and nothing filed until a person approves; the show ends on the officer’s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Three things to watch. On the left, the agent’s steps, lit one at a time, with the images it looked at. In the middle, the map: each layer it lands is evidence you can check. And the moment a person decides. In the methane act, I’ll play the analyst and decide whether to file the draft brief. The last act, Dark Vessels, ends on the agent’s own choices, each with its reason, then a prediction of where to look next, checked against past radar days, and a draft patrol tasking. I’ll play the officer and decide whether to approve it.</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Backup for technical questions; every box on it comes from the code.</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Only if someone asks how it works. Walk it left to right, as on the earlier slide, then answer from the lines below.</a:t>
            </a:r>
          </a:p>
          <a:p>
            <a:pPr>
              <a:spcAft>
                <a:spcPts val="800"/>
              </a:spcAft>
            </a:pPr>
            <a:r>
              <a:rPr sz="1400" b="1" lang="en-GB">
                <a:latin typeface="Atkinson Hyperlegible"/>
                <a:ea typeface="Atkinson Hyperlegible"/>
                <a:cs typeface="Atkinson Hyperlegible"/>
              </a:rPr>
              <a:t>If asked about sign-in and traffic: </a:t>
            </a:r>
            <a:r>
              <a:rPr sz="1400" b="0" lang="en-GB">
                <a:latin typeface="Atkinson Hyperlegible"/>
                <a:ea typeface="Atkinson Hyperlegible"/>
                <a:cs typeface="Atkinson Hyperlegible"/>
              </a:rPr>
              <a:t>Amazon Cognito user pool, with users added by an admin only. The browser signs in and the backend checks the token on every API call. Requests go through CloudFront with AWS WAF, then an Application Load Balancer that only accepts CloudFront’s secret header, then one container image on ECS Fargate that serves the React stage and the Express backend.</a:t>
            </a:r>
          </a:p>
          <a:p>
            <a:pPr>
              <a:spcAft>
                <a:spcPts val="800"/>
              </a:spcAft>
            </a:pPr>
            <a:r>
              <a:rPr sz="1400" b="1" lang="en-GB">
                <a:latin typeface="Atkinson Hyperlegible"/>
                <a:ea typeface="Atkinson Hyperlegible"/>
                <a:cs typeface="Atkinson Hyperlegible"/>
              </a:rPr>
              <a:t>If asked about the agents: </a:t>
            </a:r>
            <a:r>
              <a:rPr sz="1400" b="0" lang="en-GB">
                <a:latin typeface="Atkinson Hyperlegible"/>
                <a:ea typeface="Atkinson Hyperlegible"/>
                <a:cs typeface="Atkinson Hyperlegible"/>
              </a:rPr>
              <a:t>Four AgentCore runtimes, one per agent, each a Strands agent with its own tools. The backend calls InvokeAgentRuntime and streams each step back as server-sent events. The model is Claude Sonnet 4.6 on Amazon Bedrock, through the US cross-Region inference profile. Conversation history is kept in S3, not in AgentCore Memory.</a:t>
            </a:r>
          </a:p>
          <a:p>
            <a:pPr>
              <a:spcAft>
                <a:spcPts val="800"/>
              </a:spcAft>
            </a:pPr>
            <a:r>
              <a:rPr sz="1400" b="1" lang="en-GB">
                <a:latin typeface="Atkinson Hyperlegible"/>
                <a:ea typeface="Atkinson Hyperlegible"/>
                <a:cs typeface="Atkinson Hyperlegible"/>
              </a:rPr>
              <a:t>If asked about data: </a:t>
            </a:r>
            <a:r>
              <a:rPr sz="1400" b="0" lang="en-GB">
                <a:latin typeface="Atkinson Hyperlegible"/>
                <a:ea typeface="Atkinson Hyperlegible"/>
                <a:cs typeface="Atkinson Hyperlegible"/>
              </a:rPr>
              <a:t>Live reads: Sentinel-2 from AWS Open Data, Clay embeddings through a Lambda fan-out with DuckDB, Esri’s ArcGIS MCP server, OpenStreetMap and ESA’s Sentinel-1 plans. The methane data, Sentinel-5P from AWS Open Data with NASA EMIT and FIRMS, is warmed the day before and on the day, and fetched live only if something is missing. Prepared ahead: radar and AIS from Microsoft Planetary Computer and Global Fishing Watch, LiDAR from USGS 3DEP, and the OGIM and GEM registries.</a:t>
            </a:r>
          </a:p>
          <a:p>
            <a:pPr>
              <a:spcAft>
                <a:spcPts val="800"/>
              </a:spcAft>
            </a:pPr>
            <a:r>
              <a:rPr sz="1400" b="1" lang="en-GB">
                <a:latin typeface="Atkinson Hyperlegible"/>
                <a:ea typeface="Atkinson Hyperlegible"/>
                <a:cs typeface="Atkinson Hyperlegible"/>
              </a:rPr>
              <a:t>If asked about decisions: </a:t>
            </a:r>
            <a:r>
              <a:rPr sz="1400" b="0" lang="en-GB">
                <a:latin typeface="Atkinson Hyperlegible"/>
                <a:ea typeface="Atkinson Hyperlegible"/>
                <a:cs typeface="Atkinson Hyperlegible"/>
              </a:rPr>
              <a:t>Nothing is filed until the analyst or the officer clicks. The backend writes the record to S3 and posts to Slack; the brief’s Slack webhook URL comes from Secrets Manager.</a:t>
            </a:r>
          </a:p>
          <a:p>
            <a:pPr>
              <a:spcAft>
                <a:spcPts val="800"/>
              </a:spcAft>
            </a:pPr>
            <a:r>
              <a:rPr sz="1400" b="1" lang="en-GB">
                <a:latin typeface="Atkinson Hyperlegible"/>
                <a:ea typeface="Atkinson Hyperlegible"/>
                <a:cs typeface="Atkinson Hyperlegible"/>
              </a:rPr>
              <a:t>If asked about tracing: </a:t>
            </a:r>
            <a:r>
              <a:rPr sz="1400" b="0" lang="en-GB">
                <a:latin typeface="Atkinson Hyperlegible"/>
                <a:ea typeface="Atkinson Hyperlegible"/>
                <a:cs typeface="Atkinson Hyperlegible"/>
              </a:rPr>
              <a:t>The web app’s logs and Container Insights go to Amazon CloudWatch. Agent traces aren’t on this diagram because they weren’t confirmed for the stage runtimes, so don’t promise a trace view.</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Back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Spots silent ships, plans the patrol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Diagram panel"/>
          <p:cNvSpPr/>
          <p:nvPr/>
        </p:nvSpPr>
        <p:spPr>
          <a:xfrm>
            <a:off x="731520" y="1417320"/>
            <a:ext cx="10725912" cy="4875480"/>
          </a:xfrm>
          <a:prstGeom prst="roundRect">
            <a:avLst>
              <a:gd name="adj" fmla="val 22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Architecture diagram" descr="Architecture, left to right. The presenter asks through Amazon CloudFront to the web app on AWS Fargate. Four agents, Earth Analyst, AI Archaeologist, Methane Hunter and Dark Vessels, one AgentCore runtime each, sit around one model, Claude Sonnet 4.6, on Amazon Bedrock. Data sources: read live, satellite imagery, Clay embeddings and Esri ArcGIS MCP; prepared ahead and cached in S3, methane sensors, radar and AIS, and LiDAR terrain. A person decides, then the app files the decision and posts it to Slack."/>
          <p:cNvPicPr>
            <a:picLocks noChangeAspect="1"/>
          </p:cNvPicPr>
          <p:nvPr/>
        </p:nvPicPr>
        <p:blipFill>
          <a:blip r:embed="rId3"/>
          <a:stretch>
            <a:fillRect/>
          </a:stretch>
        </p:blipFill>
        <p:spPr>
          <a:xfrm>
            <a:off x="786384" y="1472184"/>
            <a:ext cx="10616184" cy="476575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to watch for</a:t>
            </a:r>
          </a:p>
        </p:txBody>
      </p:sp>
      <p:sp>
        <p:nvSpPr>
          <p:cNvPr id="3" name="Watch marker 1"/>
          <p:cNvSpPr/>
          <p:nvPr/>
        </p:nvSpPr>
        <p:spPr>
          <a:xfrm>
            <a:off x="731520" y="216712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4" name="Watch 1"/>
          <p:cNvSpPr txBox="1"/>
          <p:nvPr/>
        </p:nvSpPr>
        <p:spPr>
          <a:xfrm>
            <a:off x="1417320" y="215798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agent’s steps, on the left</a:t>
            </a:r>
          </a:p>
        </p:txBody>
      </p:sp>
      <p:sp>
        <p:nvSpPr>
          <p:cNvPr id="5" name="Watch marker 2"/>
          <p:cNvSpPr/>
          <p:nvPr/>
        </p:nvSpPr>
        <p:spPr>
          <a:xfrm>
            <a:off x="731520" y="326440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6" name="Watch 2"/>
          <p:cNvSpPr txBox="1"/>
          <p:nvPr/>
        </p:nvSpPr>
        <p:spPr>
          <a:xfrm>
            <a:off x="1417320" y="3255263"/>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map, where the evidence lands</a:t>
            </a:r>
          </a:p>
        </p:txBody>
      </p:sp>
      <p:sp>
        <p:nvSpPr>
          <p:cNvPr id="7" name="Watch marker 3"/>
          <p:cNvSpPr/>
          <p:nvPr/>
        </p:nvSpPr>
        <p:spPr>
          <a:xfrm>
            <a:off x="731520" y="4361688"/>
            <a:ext cx="420624" cy="420624"/>
          </a:xfrm>
          <a:prstGeom prst="ellipse">
            <a:avLst/>
          </a:prstGeom>
          <a:solidFill>
            <a:srgbClr val="F5A524"/>
          </a:solidFill>
          <a:ln>
            <a:noFill/>
          </a:ln>
        </p:spPr>
        <p:txBody>
          <a:bodyPr rtlCol="0" anchor="ctr" lIns="0" rIns="0" tIns="0" bIns="0" wrap="none"/>
          <a:lstStyle/>
          <a:p>
            <a:pPr algn="ctr"/>
            <a:r>
              <a:rPr sz="2000" b="1" lang="en-GB">
                <a:solidFill>
                  <a:srgbClr val="0F141B"/>
                </a:solidFill>
                <a:latin typeface="Menlo"/>
                <a:ea typeface="Menlo"/>
                <a:cs typeface="Menlo"/>
              </a:rPr>
              <a:t>3</a:t>
            </a:r>
          </a:p>
        </p:txBody>
      </p:sp>
      <p:sp>
        <p:nvSpPr>
          <p:cNvPr id="8" name="Watch 3"/>
          <p:cNvSpPr txBox="1"/>
          <p:nvPr/>
        </p:nvSpPr>
        <p:spPr>
          <a:xfrm>
            <a:off x="1417320" y="435254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moment a person decides</a:t>
            </a:r>
          </a:p>
        </p:txBody>
      </p:sp>
      <p:sp>
        <p:nvSpPr>
          <p:cNvPr id="9" name="Stage frame"/>
          <p:cNvSpPr/>
          <p:nvPr/>
        </p:nvSpPr>
        <p:spPr>
          <a:xfrm>
            <a:off x="6949440" y="2206075"/>
            <a:ext cx="4510735" cy="2537288"/>
          </a:xfrm>
          <a:prstGeom prst="roundRect">
            <a:avLst>
              <a:gd name="adj" fmla="val 3000"/>
            </a:avLst>
          </a:prstGeom>
          <a:solidFill>
            <a:srgbClr val="121923"/>
          </a:solidFill>
          <a:ln w="12700">
            <a:solidFill>
              <a:srgbClr val="43484F"/>
            </a:solidFill>
          </a:ln>
        </p:spPr>
        <p:txBody>
          <a:bodyPr rtlCol="0" anchor="ctr"/>
          <a:lstStyle/>
          <a:p>
            <a:pPr algn="ctr"/>
          </a:p>
        </p:txBody>
      </p:sp>
      <p:sp>
        <p:nvSpPr>
          <p:cNvPr id="10" name="Stage rail"/>
          <p:cNvSpPr/>
          <p:nvPr/>
        </p:nvSpPr>
        <p:spPr>
          <a:xfrm>
            <a:off x="6958583" y="2215219"/>
            <a:ext cx="4492447" cy="182880"/>
          </a:xfrm>
          <a:prstGeom prst="rect">
            <a:avLst/>
          </a:prstGeom>
          <a:solidFill>
            <a:srgbClr val="161C25"/>
          </a:solidFill>
          <a:ln>
            <a:noFill/>
          </a:ln>
        </p:spPr>
        <p:txBody>
          <a:bodyPr rtlCol="0" anchor="ctr"/>
          <a:lstStyle/>
          <a:p>
            <a:pPr algn="ctr"/>
          </a:p>
        </p:txBody>
      </p:sp>
      <p:sp>
        <p:nvSpPr>
          <p:cNvPr id="11" name="Step column"/>
          <p:cNvSpPr/>
          <p:nvPr/>
        </p:nvSpPr>
        <p:spPr>
          <a:xfrm>
            <a:off x="7077455" y="2516971"/>
            <a:ext cx="1097280" cy="1970360"/>
          </a:xfrm>
          <a:prstGeom prst="roundRect">
            <a:avLst>
              <a:gd name="adj" fmla="val 6000"/>
            </a:avLst>
          </a:prstGeom>
          <a:solidFill>
            <a:srgbClr val="1D2530"/>
          </a:solidFill>
          <a:ln w="12700">
            <a:solidFill>
              <a:srgbClr val="2E3339"/>
            </a:solidFill>
          </a:ln>
        </p:spPr>
        <p:txBody>
          <a:bodyPr rtlCol="0" anchor="ctr"/>
          <a:lstStyle/>
          <a:p>
            <a:pPr algn="ctr"/>
          </a:p>
        </p:txBody>
      </p:sp>
      <p:sp>
        <p:nvSpPr>
          <p:cNvPr id="12" name="Step dot 1"/>
          <p:cNvSpPr/>
          <p:nvPr/>
        </p:nvSpPr>
        <p:spPr>
          <a:xfrm>
            <a:off x="7187183" y="2773003"/>
            <a:ext cx="73152" cy="73152"/>
          </a:xfrm>
          <a:prstGeom prst="ellipse">
            <a:avLst/>
          </a:prstGeom>
          <a:solidFill>
            <a:srgbClr val="8FA3B8"/>
          </a:solidFill>
          <a:ln>
            <a:noFill/>
          </a:ln>
        </p:spPr>
        <p:txBody>
          <a:bodyPr rtlCol="0" anchor="ctr"/>
          <a:lstStyle/>
          <a:p>
            <a:pPr algn="ctr"/>
          </a:p>
        </p:txBody>
      </p:sp>
      <p:sp>
        <p:nvSpPr>
          <p:cNvPr id="13" name="Step row 1"/>
          <p:cNvSpPr/>
          <p:nvPr/>
        </p:nvSpPr>
        <p:spPr>
          <a:xfrm>
            <a:off x="7333488" y="2786719"/>
            <a:ext cx="713232" cy="45720"/>
          </a:xfrm>
          <a:prstGeom prst="rect">
            <a:avLst/>
          </a:prstGeom>
          <a:solidFill>
            <a:srgbClr val="43484F"/>
          </a:solidFill>
          <a:ln>
            <a:noFill/>
          </a:ln>
        </p:spPr>
        <p:txBody>
          <a:bodyPr rtlCol="0" anchor="ctr"/>
          <a:lstStyle/>
          <a:p>
            <a:pPr algn="ctr"/>
          </a:p>
        </p:txBody>
      </p:sp>
      <p:sp>
        <p:nvSpPr>
          <p:cNvPr id="14" name="Step dot 2"/>
          <p:cNvSpPr/>
          <p:nvPr/>
        </p:nvSpPr>
        <p:spPr>
          <a:xfrm>
            <a:off x="7187183" y="3047323"/>
            <a:ext cx="73152" cy="73152"/>
          </a:xfrm>
          <a:prstGeom prst="ellipse">
            <a:avLst/>
          </a:prstGeom>
          <a:solidFill>
            <a:srgbClr val="8FA3B8"/>
          </a:solidFill>
          <a:ln>
            <a:noFill/>
          </a:ln>
        </p:spPr>
        <p:txBody>
          <a:bodyPr rtlCol="0" anchor="ctr"/>
          <a:lstStyle/>
          <a:p>
            <a:pPr algn="ctr"/>
          </a:p>
        </p:txBody>
      </p:sp>
      <p:sp>
        <p:nvSpPr>
          <p:cNvPr id="15" name="Step row 2"/>
          <p:cNvSpPr/>
          <p:nvPr/>
        </p:nvSpPr>
        <p:spPr>
          <a:xfrm>
            <a:off x="7333488" y="3061039"/>
            <a:ext cx="548640" cy="45720"/>
          </a:xfrm>
          <a:prstGeom prst="rect">
            <a:avLst/>
          </a:prstGeom>
          <a:solidFill>
            <a:srgbClr val="43484F"/>
          </a:solidFill>
          <a:ln>
            <a:noFill/>
          </a:ln>
        </p:spPr>
        <p:txBody>
          <a:bodyPr rtlCol="0" anchor="ctr"/>
          <a:lstStyle/>
          <a:p>
            <a:pPr algn="ctr"/>
          </a:p>
        </p:txBody>
      </p:sp>
      <p:sp>
        <p:nvSpPr>
          <p:cNvPr id="16" name="Step dot 3"/>
          <p:cNvSpPr/>
          <p:nvPr/>
        </p:nvSpPr>
        <p:spPr>
          <a:xfrm>
            <a:off x="7187183" y="3321643"/>
            <a:ext cx="73152" cy="73152"/>
          </a:xfrm>
          <a:prstGeom prst="ellipse">
            <a:avLst/>
          </a:prstGeom>
          <a:solidFill>
            <a:srgbClr val="8FA3B8"/>
          </a:solidFill>
          <a:ln>
            <a:noFill/>
          </a:ln>
        </p:spPr>
        <p:txBody>
          <a:bodyPr rtlCol="0" anchor="ctr"/>
          <a:lstStyle/>
          <a:p>
            <a:pPr algn="ctr"/>
          </a:p>
        </p:txBody>
      </p:sp>
      <p:sp>
        <p:nvSpPr>
          <p:cNvPr id="17" name="Step row 3"/>
          <p:cNvSpPr/>
          <p:nvPr/>
        </p:nvSpPr>
        <p:spPr>
          <a:xfrm>
            <a:off x="7333488" y="3335359"/>
            <a:ext cx="713232" cy="45720"/>
          </a:xfrm>
          <a:prstGeom prst="rect">
            <a:avLst/>
          </a:prstGeom>
          <a:solidFill>
            <a:srgbClr val="43484F"/>
          </a:solidFill>
          <a:ln>
            <a:noFill/>
          </a:ln>
        </p:spPr>
        <p:txBody>
          <a:bodyPr rtlCol="0" anchor="ctr"/>
          <a:lstStyle/>
          <a:p>
            <a:pPr algn="ctr"/>
          </a:p>
        </p:txBody>
      </p:sp>
      <p:sp>
        <p:nvSpPr>
          <p:cNvPr id="18" name="Step dot 4"/>
          <p:cNvSpPr/>
          <p:nvPr/>
        </p:nvSpPr>
        <p:spPr>
          <a:xfrm>
            <a:off x="7187183" y="3595963"/>
            <a:ext cx="73152" cy="73152"/>
          </a:xfrm>
          <a:prstGeom prst="ellipse">
            <a:avLst/>
          </a:prstGeom>
          <a:solidFill>
            <a:srgbClr val="E9EEF3"/>
          </a:solidFill>
          <a:ln>
            <a:noFill/>
          </a:ln>
        </p:spPr>
        <p:txBody>
          <a:bodyPr rtlCol="0" anchor="ctr"/>
          <a:lstStyle/>
          <a:p>
            <a:pPr algn="ctr"/>
          </a:p>
        </p:txBody>
      </p:sp>
      <p:sp>
        <p:nvSpPr>
          <p:cNvPr id="19" name="Step row 4"/>
          <p:cNvSpPr/>
          <p:nvPr/>
        </p:nvSpPr>
        <p:spPr>
          <a:xfrm>
            <a:off x="7333488" y="3609679"/>
            <a:ext cx="548640" cy="45720"/>
          </a:xfrm>
          <a:prstGeom prst="rect">
            <a:avLst/>
          </a:prstGeom>
          <a:solidFill>
            <a:srgbClr val="E9EEF3"/>
          </a:solidFill>
          <a:ln>
            <a:noFill/>
          </a:ln>
        </p:spPr>
        <p:txBody>
          <a:bodyPr rtlCol="0" anchor="ctr"/>
          <a:lstStyle/>
          <a:p>
            <a:pPr algn="ctr"/>
          </a:p>
        </p:txBody>
      </p:sp>
      <p:sp>
        <p:nvSpPr>
          <p:cNvPr id="20" name="Step dot 5"/>
          <p:cNvSpPr/>
          <p:nvPr/>
        </p:nvSpPr>
        <p:spPr>
          <a:xfrm>
            <a:off x="7187183" y="3870283"/>
            <a:ext cx="73152" cy="73152"/>
          </a:xfrm>
          <a:prstGeom prst="ellipse">
            <a:avLst/>
          </a:prstGeom>
          <a:solidFill>
            <a:srgbClr val="8FA3B8"/>
          </a:solidFill>
          <a:ln>
            <a:noFill/>
          </a:ln>
        </p:spPr>
        <p:txBody>
          <a:bodyPr rtlCol="0" anchor="ctr"/>
          <a:lstStyle/>
          <a:p>
            <a:pPr algn="ctr"/>
          </a:p>
        </p:txBody>
      </p:sp>
      <p:sp>
        <p:nvSpPr>
          <p:cNvPr id="21" name="Step row 5"/>
          <p:cNvSpPr/>
          <p:nvPr/>
        </p:nvSpPr>
        <p:spPr>
          <a:xfrm>
            <a:off x="7333488" y="3883999"/>
            <a:ext cx="713232" cy="45720"/>
          </a:xfrm>
          <a:prstGeom prst="rect">
            <a:avLst/>
          </a:prstGeom>
          <a:solidFill>
            <a:srgbClr val="43484F"/>
          </a:solidFill>
          <a:ln>
            <a:noFill/>
          </a:ln>
        </p:spPr>
        <p:txBody>
          <a:bodyPr rtlCol="0" anchor="ctr"/>
          <a:lstStyle/>
          <a:p>
            <a:pPr algn="ctr"/>
          </a:p>
        </p:txBody>
      </p:sp>
      <p:sp>
        <p:nvSpPr>
          <p:cNvPr id="22" name="Step dot 6"/>
          <p:cNvSpPr/>
          <p:nvPr/>
        </p:nvSpPr>
        <p:spPr>
          <a:xfrm>
            <a:off x="7187183" y="4144603"/>
            <a:ext cx="73152" cy="73152"/>
          </a:xfrm>
          <a:prstGeom prst="ellipse">
            <a:avLst/>
          </a:prstGeom>
          <a:solidFill>
            <a:srgbClr val="8FA3B8"/>
          </a:solidFill>
          <a:ln>
            <a:noFill/>
          </a:ln>
        </p:spPr>
        <p:txBody>
          <a:bodyPr rtlCol="0" anchor="ctr"/>
          <a:lstStyle/>
          <a:p>
            <a:pPr algn="ctr"/>
          </a:p>
        </p:txBody>
      </p:sp>
      <p:sp>
        <p:nvSpPr>
          <p:cNvPr id="23" name="Step row 6"/>
          <p:cNvSpPr/>
          <p:nvPr/>
        </p:nvSpPr>
        <p:spPr>
          <a:xfrm>
            <a:off x="7333488" y="4158319"/>
            <a:ext cx="548640" cy="45720"/>
          </a:xfrm>
          <a:prstGeom prst="rect">
            <a:avLst/>
          </a:prstGeom>
          <a:solidFill>
            <a:srgbClr val="43484F"/>
          </a:solidFill>
          <a:ln>
            <a:noFill/>
          </a:ln>
        </p:spPr>
        <p:txBody>
          <a:bodyPr rtlCol="0" anchor="ctr"/>
          <a:lstStyle/>
          <a:p>
            <a:pPr algn="ctr"/>
          </a:p>
        </p:txBody>
      </p:sp>
      <p:sp>
        <p:nvSpPr>
          <p:cNvPr id="24" name="Evidence outline"/>
          <p:cNvSpPr/>
          <p:nvPr/>
        </p:nvSpPr>
        <p:spPr>
          <a:xfrm>
            <a:off x="9098280" y="2846155"/>
            <a:ext cx="1828800" cy="1371600"/>
          </a:xfrm>
          <a:custGeom>
            <a:avLst/>
            <a:gdLst/>
            <a:ahLst/>
            <a:cxnLst/>
            <a:rect l="l" t="t" r="r" b="b"/>
            <a:pathLst>
              <a:path w="1828800" h="1371600">
                <a:moveTo>
                  <a:pt x="182879" y="137160"/>
                </a:moveTo>
                <a:lnTo>
                  <a:pt x="1143000" y="0"/>
                </a:lnTo>
                <a:lnTo>
                  <a:pt x="1828800" y="502920"/>
                </a:lnTo>
                <a:lnTo>
                  <a:pt x="1600200" y="1234440"/>
                </a:lnTo>
                <a:lnTo>
                  <a:pt x="594360" y="1371600"/>
                </a:lnTo>
                <a:lnTo>
                  <a:pt x="0" y="822960"/>
                </a:lnTo>
                <a:close/>
              </a:path>
            </a:pathLst>
          </a:custGeom>
          <a:noFill/>
          <a:ln w="19050">
            <a:solidFill>
              <a:srgbClr val="E9EEF3"/>
            </a:solidFill>
            <a:prstDash val="dash"/>
          </a:ln>
        </p:spPr>
        <p:txBody>
          <a:bodyPr rtlCol="0" anchor="ctr"/>
          <a:lstStyle/>
          <a:p>
            <a:pPr algn="ctr"/>
          </a:p>
        </p:txBody>
      </p:sp>
      <p:sp>
        <p:nvSpPr>
          <p:cNvPr id="25" name="Evidence site"/>
          <p:cNvSpPr/>
          <p:nvPr/>
        </p:nvSpPr>
        <p:spPr>
          <a:xfrm>
            <a:off x="9880092" y="3399367"/>
            <a:ext cx="82296" cy="82296"/>
          </a:xfrm>
          <a:prstGeom prst="ellipse">
            <a:avLst/>
          </a:prstGeom>
          <a:solidFill>
            <a:srgbClr val="E9EEF3"/>
          </a:solidFill>
          <a:ln>
            <a:noFill/>
          </a:ln>
        </p:spPr>
        <p:txBody>
          <a:bodyPr rtlCol="0" anchor="ctr"/>
          <a:lstStyle/>
          <a:p>
            <a:pPr algn="ctr"/>
          </a:p>
        </p:txBody>
      </p:sp>
      <p:sp>
        <p:nvSpPr>
          <p:cNvPr id="26" name="Evidence site"/>
          <p:cNvSpPr/>
          <p:nvPr/>
        </p:nvSpPr>
        <p:spPr>
          <a:xfrm>
            <a:off x="10291572" y="3673687"/>
            <a:ext cx="82296" cy="82296"/>
          </a:xfrm>
          <a:prstGeom prst="ellipse">
            <a:avLst/>
          </a:prstGeom>
          <a:solidFill>
            <a:srgbClr val="E9EEF3"/>
          </a:solidFill>
          <a:ln>
            <a:noFill/>
          </a:ln>
        </p:spPr>
        <p:txBody>
          <a:bodyPr rtlCol="0" anchor="ctr"/>
          <a:lstStyle/>
          <a:p>
            <a:pPr algn="ctr"/>
          </a:p>
        </p:txBody>
      </p:sp>
      <p:sp>
        <p:nvSpPr>
          <p:cNvPr id="27" name="Evidence site"/>
          <p:cNvSpPr/>
          <p:nvPr/>
        </p:nvSpPr>
        <p:spPr>
          <a:xfrm>
            <a:off x="9605772" y="3765127"/>
            <a:ext cx="82296" cy="82296"/>
          </a:xfrm>
          <a:prstGeom prst="ellipse">
            <a:avLst/>
          </a:prstGeom>
          <a:solidFill>
            <a:srgbClr val="E9EEF3"/>
          </a:solidFill>
          <a:ln>
            <a:noFill/>
          </a:ln>
        </p:spPr>
        <p:txBody>
          <a:bodyPr rtlCol="0" anchor="ctr"/>
          <a:lstStyle/>
          <a:p>
            <a:pPr algn="ctr"/>
          </a:p>
        </p:txBody>
      </p:sp>
      <p:sp>
        <p:nvSpPr>
          <p:cNvPr id="28" name="Evidence site"/>
          <p:cNvSpPr/>
          <p:nvPr/>
        </p:nvSpPr>
        <p:spPr>
          <a:xfrm>
            <a:off x="10474452" y="3170767"/>
            <a:ext cx="82296" cy="82296"/>
          </a:xfrm>
          <a:prstGeom prst="ellipse">
            <a:avLst/>
          </a:prstGeom>
          <a:solidFill>
            <a:srgbClr val="E9EEF3"/>
          </a:solidFill>
          <a:ln>
            <a:noFill/>
          </a:ln>
        </p:spPr>
        <p:txBody>
          <a:bodyPr rtlCol="0" anchor="ctr"/>
          <a:lstStyle/>
          <a:p>
            <a:pPr algn="ctr"/>
          </a:p>
        </p:txBody>
      </p:sp>
      <p:sp>
        <p:nvSpPr>
          <p:cNvPr id="29" name="Console"/>
          <p:cNvSpPr/>
          <p:nvPr/>
        </p:nvSpPr>
        <p:spPr>
          <a:xfrm>
            <a:off x="8549640" y="4414180"/>
            <a:ext cx="2133295" cy="201168"/>
          </a:xfrm>
          <a:prstGeom prst="roundRect">
            <a:avLst>
              <a:gd name="adj" fmla="val 30000"/>
            </a:avLst>
          </a:prstGeom>
          <a:solidFill>
            <a:srgbClr val="161C25"/>
          </a:solidFill>
          <a:ln w="12700">
            <a:solidFill>
              <a:srgbClr val="2E3339"/>
            </a:solidFill>
          </a:ln>
        </p:spPr>
        <p:txBody>
          <a:bodyPr rtlCol="0" anchor="ctr"/>
          <a:lstStyle/>
          <a:p>
            <a:pPr algn="ctr"/>
          </a:p>
        </p:txBody>
      </p:sp>
      <p:sp>
        <p:nvSpPr>
          <p:cNvPr id="30" name="Schematic marker 1"/>
          <p:cNvSpPr/>
          <p:nvPr/>
        </p:nvSpPr>
        <p:spPr>
          <a:xfrm>
            <a:off x="7982711" y="2507827"/>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31" name="Schematic marker 2"/>
          <p:cNvSpPr/>
          <p:nvPr/>
        </p:nvSpPr>
        <p:spPr>
          <a:xfrm>
            <a:off x="10826496" y="2580979"/>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457200" y="347472"/>
            <a:ext cx="11274552" cy="548640"/>
          </a:xfrm>
          <a:prstGeom prst="rect">
            <a:avLst/>
          </a:prstGeom>
          <a:noFill/>
        </p:spPr>
        <p:txBody>
          <a:bodyPr wrap="square" lIns="0" rIns="0" tIns="0" bIns="0" anchor="t">
            <a:noAutofit/>
          </a:bodyPr>
          <a:lstStyle/>
          <a:p>
            <a:pPr algn="l">
              <a:lnSpc>
                <a:spcPct val="100000"/>
              </a:lnSpc>
              <a:spcBef>
                <a:spcPts val="0"/>
              </a:spcBef>
              <a:spcAft>
                <a:spcPts val="0"/>
              </a:spcAft>
            </a:pPr>
            <a:r>
              <a:rPr sz="3200" b="1" lang="en-GB">
                <a:solidFill>
                  <a:srgbClr val="E9EEF3"/>
                </a:solidFill>
                <a:latin typeface="Atkinson Hyperlegible"/>
                <a:ea typeface="Atkinson Hyperlegible"/>
                <a:cs typeface="Atkinson Hyperlegible"/>
              </a:rPr>
              <a:t>Backup: the architecture in detail</a:t>
            </a:r>
          </a:p>
        </p:txBody>
      </p:sp>
      <p:sp>
        <p:nvSpPr>
          <p:cNvPr id="3" name="Diagram panel"/>
          <p:cNvSpPr/>
          <p:nvPr/>
        </p:nvSpPr>
        <p:spPr>
          <a:xfrm>
            <a:off x="457200" y="1005840"/>
            <a:ext cx="11274552" cy="5410405"/>
          </a:xfrm>
          <a:prstGeom prst="roundRect">
            <a:avLst>
              <a:gd name="adj" fmla="val 202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Detailed architecture diagram" descr="Detailed architecture. Tile server: API Gateway and TiTiler on Lambda. Stage: Amazon Cognito, AWS WAF on CloudFront, Application Load Balancer, Amazon ECS on Fargate with the React stage and the Express backend, AWS Secrets Manager. Agents: one AgentCore runtime per agent with its main tools, Claude Sonnet 4.6 on Amazon Bedrock, a Lambda for the Clay embeddings. The S3 project bucket holds sessions and filed decisions. Data layer: AWS Open Data, live external APIs, and our S3 caches prepared ahead by build scripts. Filed decisions post to Slack."/>
          <p:cNvPicPr>
            <a:picLocks noChangeAspect="1"/>
          </p:cNvPicPr>
          <p:nvPr/>
        </p:nvPicPr>
        <p:blipFill>
          <a:blip r:embed="rId2"/>
          <a:stretch>
            <a:fillRect/>
          </a:stretch>
        </p:blipFill>
        <p:spPr>
          <a:xfrm>
            <a:off x="512064" y="1060704"/>
            <a:ext cx="11164824" cy="530067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