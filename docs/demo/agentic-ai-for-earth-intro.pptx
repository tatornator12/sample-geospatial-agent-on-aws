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legwork; a person makes the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We collect more Earth observation data than people can read. In the first act, one question compares about 190,000 patches of New York State. In the methane act, the agent scans nine watch areas with one sensor in orbit, then checks the strongest with a sharper one. In the last act, around a hundred vessels an hour broadcast inside one marine reserve. Nobody reads all that by hand. So the agent does the reading and the legwork,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jobs, one platform; candidates, never accusations.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silent target there is a candidate for a patrol, never an accusation.</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that’s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One runtime per agent; a person files.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Each agent is its own runtime on Amazon Bedrock AgentCore. A foundation model, Claude Sonnet 4.6 by default, reads the question and calls the agent’s tools, sometimes several at once: fetch a scene, compute an index, check a record. How freely it chooses varies: the Earth Analyst picks its own tools, dates and scenes; the archaeologist works over prepared LiDAR but picks the line it measures. All four share one map stage, with session files in Amazon S3. The analyst files the brief and the officer approves the tasking; the backend enforces that, not the model.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So, what to watch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Steps, evidence, and nothing filed until a person approves; the show ends on the officer’s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Three things to watch. On the left, the agent’s steps, lit one at a time, with the images it looked at. In the middle, the map: each layer it lands is evidence you can check. And the moment a person decides. In the methane act, I’ll play the analyst and decide whether to file the draft brief. The last act, Dark Vessels, ends on the agent’s own choices, each with its reason, then a prediction of where to look next, checked against past radar days, and a draft patrol tasking. I’ll play the officer and decide whether to approve it.</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Radar candidates, never accusations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Built 1"/>
          <p:cNvSpPr txBox="1"/>
          <p:nvPr/>
        </p:nvSpPr>
        <p:spPr>
          <a:xfrm>
            <a:off x="1280160" y="1874519"/>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One AgentCore runtime per agent</a:t>
            </a:r>
          </a:p>
        </p:txBody>
      </p:sp>
      <p:sp>
        <p:nvSpPr>
          <p:cNvPr id="4" name="Built 2"/>
          <p:cNvSpPr txBox="1"/>
          <p:nvPr/>
        </p:nvSpPr>
        <p:spPr>
          <a:xfrm>
            <a:off x="1280160" y="2752344"/>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A foundation model calls tools</a:t>
            </a:r>
          </a:p>
        </p:txBody>
      </p:sp>
      <p:sp>
        <p:nvSpPr>
          <p:cNvPr id="5" name="Built 3"/>
          <p:cNvSpPr txBox="1"/>
          <p:nvPr/>
        </p:nvSpPr>
        <p:spPr>
          <a:xfrm>
            <a:off x="1280160" y="3630168"/>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Sentinel-2, methane sensors, radar and AIS, LiDAR</a:t>
            </a:r>
          </a:p>
        </p:txBody>
      </p:sp>
      <p:sp>
        <p:nvSpPr>
          <p:cNvPr id="6" name="Built 4"/>
          <p:cNvSpPr txBox="1"/>
          <p:nvPr/>
        </p:nvSpPr>
        <p:spPr>
          <a:xfrm>
            <a:off x="1280160" y="4507992"/>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Shared map stage, session files in S3</a:t>
            </a:r>
          </a:p>
        </p:txBody>
      </p:sp>
      <p:sp>
        <p:nvSpPr>
          <p:cNvPr id="7" name="Built 5"/>
          <p:cNvSpPr txBox="1"/>
          <p:nvPr/>
        </p:nvSpPr>
        <p:spPr>
          <a:xfrm>
            <a:off x="1280160" y="5385816"/>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Analyst files the brief, officer approves the tasking</a:t>
            </a:r>
          </a:p>
        </p:txBody>
      </p:sp>
      <p:cxnSp>
        <p:nvCxnSpPr>
          <p:cNvPr id="8" name="Built rail"/>
          <p:cNvCxnSpPr/>
          <p:nvPr/>
        </p:nvCxnSpPr>
        <p:spPr>
          <a:xfrm>
            <a:off x="841248" y="2087880"/>
            <a:ext cx="0" cy="3511296"/>
          </a:xfrm>
          <a:prstGeom prst="line">
            <a:avLst/>
          </a:prstGeom>
          <a:ln w="19050">
            <a:solidFill>
              <a:srgbClr val="43484F"/>
            </a:solidFill>
          </a:ln>
        </p:spPr>
      </p:cxnSp>
      <p:sp>
        <p:nvSpPr>
          <p:cNvPr id="9" name="Built dot 1"/>
          <p:cNvSpPr/>
          <p:nvPr/>
        </p:nvSpPr>
        <p:spPr>
          <a:xfrm>
            <a:off x="749808" y="1996439"/>
            <a:ext cx="182880" cy="182880"/>
          </a:xfrm>
          <a:prstGeom prst="ellipse">
            <a:avLst/>
          </a:prstGeom>
          <a:solidFill>
            <a:srgbClr val="8FA3B8"/>
          </a:solidFill>
          <a:ln>
            <a:noFill/>
          </a:ln>
        </p:spPr>
        <p:txBody>
          <a:bodyPr rtlCol="0" anchor="ctr"/>
          <a:lstStyle/>
          <a:p>
            <a:pPr algn="ctr"/>
          </a:p>
        </p:txBody>
      </p:sp>
      <p:sp>
        <p:nvSpPr>
          <p:cNvPr id="10" name="Built dot 2"/>
          <p:cNvSpPr/>
          <p:nvPr/>
        </p:nvSpPr>
        <p:spPr>
          <a:xfrm>
            <a:off x="749808" y="2874264"/>
            <a:ext cx="182880" cy="182880"/>
          </a:xfrm>
          <a:prstGeom prst="ellipse">
            <a:avLst/>
          </a:prstGeom>
          <a:solidFill>
            <a:srgbClr val="8FA3B8"/>
          </a:solidFill>
          <a:ln>
            <a:noFill/>
          </a:ln>
        </p:spPr>
        <p:txBody>
          <a:bodyPr rtlCol="0" anchor="ctr"/>
          <a:lstStyle/>
          <a:p>
            <a:pPr algn="ctr"/>
          </a:p>
        </p:txBody>
      </p:sp>
      <p:sp>
        <p:nvSpPr>
          <p:cNvPr id="11" name="Built dot 3"/>
          <p:cNvSpPr/>
          <p:nvPr/>
        </p:nvSpPr>
        <p:spPr>
          <a:xfrm>
            <a:off x="749808" y="3752088"/>
            <a:ext cx="182880" cy="182880"/>
          </a:xfrm>
          <a:prstGeom prst="ellipse">
            <a:avLst/>
          </a:prstGeom>
          <a:solidFill>
            <a:srgbClr val="8FA3B8"/>
          </a:solidFill>
          <a:ln>
            <a:noFill/>
          </a:ln>
        </p:spPr>
        <p:txBody>
          <a:bodyPr rtlCol="0" anchor="ctr"/>
          <a:lstStyle/>
          <a:p>
            <a:pPr algn="ctr"/>
          </a:p>
        </p:txBody>
      </p:sp>
      <p:sp>
        <p:nvSpPr>
          <p:cNvPr id="12" name="Built dot 4"/>
          <p:cNvSpPr/>
          <p:nvPr/>
        </p:nvSpPr>
        <p:spPr>
          <a:xfrm>
            <a:off x="749808" y="4629912"/>
            <a:ext cx="182880" cy="182880"/>
          </a:xfrm>
          <a:prstGeom prst="ellipse">
            <a:avLst/>
          </a:prstGeom>
          <a:solidFill>
            <a:srgbClr val="8FA3B8"/>
          </a:solidFill>
          <a:ln>
            <a:noFill/>
          </a:ln>
        </p:spPr>
        <p:txBody>
          <a:bodyPr rtlCol="0" anchor="ctr"/>
          <a:lstStyle/>
          <a:p>
            <a:pPr algn="ctr"/>
          </a:p>
        </p:txBody>
      </p:sp>
      <p:sp>
        <p:nvSpPr>
          <p:cNvPr id="13" name="Built dot 5"/>
          <p:cNvSpPr/>
          <p:nvPr/>
        </p:nvSpPr>
        <p:spPr>
          <a:xfrm>
            <a:off x="731520" y="5489448"/>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to watch for</a:t>
            </a:r>
          </a:p>
        </p:txBody>
      </p:sp>
      <p:sp>
        <p:nvSpPr>
          <p:cNvPr id="3" name="Watch marker 1"/>
          <p:cNvSpPr/>
          <p:nvPr/>
        </p:nvSpPr>
        <p:spPr>
          <a:xfrm>
            <a:off x="731520" y="216712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4" name="Watch 1"/>
          <p:cNvSpPr txBox="1"/>
          <p:nvPr/>
        </p:nvSpPr>
        <p:spPr>
          <a:xfrm>
            <a:off x="1417320" y="215798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agent’s steps, on the left</a:t>
            </a:r>
          </a:p>
        </p:txBody>
      </p:sp>
      <p:sp>
        <p:nvSpPr>
          <p:cNvPr id="5" name="Watch marker 2"/>
          <p:cNvSpPr/>
          <p:nvPr/>
        </p:nvSpPr>
        <p:spPr>
          <a:xfrm>
            <a:off x="731520" y="326440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6" name="Watch 2"/>
          <p:cNvSpPr txBox="1"/>
          <p:nvPr/>
        </p:nvSpPr>
        <p:spPr>
          <a:xfrm>
            <a:off x="1417320" y="3255263"/>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map, where the evidence lands</a:t>
            </a:r>
          </a:p>
        </p:txBody>
      </p:sp>
      <p:sp>
        <p:nvSpPr>
          <p:cNvPr id="7" name="Watch marker 3"/>
          <p:cNvSpPr/>
          <p:nvPr/>
        </p:nvSpPr>
        <p:spPr>
          <a:xfrm>
            <a:off x="731520" y="4361688"/>
            <a:ext cx="420624" cy="420624"/>
          </a:xfrm>
          <a:prstGeom prst="ellipse">
            <a:avLst/>
          </a:prstGeom>
          <a:solidFill>
            <a:srgbClr val="F5A524"/>
          </a:solidFill>
          <a:ln>
            <a:noFill/>
          </a:ln>
        </p:spPr>
        <p:txBody>
          <a:bodyPr rtlCol="0" anchor="ctr" lIns="0" rIns="0" tIns="0" bIns="0" wrap="none"/>
          <a:lstStyle/>
          <a:p>
            <a:pPr algn="ctr"/>
            <a:r>
              <a:rPr sz="2000" b="1" lang="en-GB">
                <a:solidFill>
                  <a:srgbClr val="0F141B"/>
                </a:solidFill>
                <a:latin typeface="Menlo"/>
                <a:ea typeface="Menlo"/>
                <a:cs typeface="Menlo"/>
              </a:rPr>
              <a:t>3</a:t>
            </a:r>
          </a:p>
        </p:txBody>
      </p:sp>
      <p:sp>
        <p:nvSpPr>
          <p:cNvPr id="8" name="Watch 3"/>
          <p:cNvSpPr txBox="1"/>
          <p:nvPr/>
        </p:nvSpPr>
        <p:spPr>
          <a:xfrm>
            <a:off x="1417320" y="435254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moment a person decides</a:t>
            </a:r>
          </a:p>
        </p:txBody>
      </p:sp>
      <p:sp>
        <p:nvSpPr>
          <p:cNvPr id="9" name="Stage frame"/>
          <p:cNvSpPr/>
          <p:nvPr/>
        </p:nvSpPr>
        <p:spPr>
          <a:xfrm>
            <a:off x="6949440" y="2206075"/>
            <a:ext cx="4510735" cy="2537288"/>
          </a:xfrm>
          <a:prstGeom prst="roundRect">
            <a:avLst>
              <a:gd name="adj" fmla="val 3000"/>
            </a:avLst>
          </a:prstGeom>
          <a:solidFill>
            <a:srgbClr val="121923"/>
          </a:solidFill>
          <a:ln w="12700">
            <a:solidFill>
              <a:srgbClr val="43484F"/>
            </a:solidFill>
          </a:ln>
        </p:spPr>
        <p:txBody>
          <a:bodyPr rtlCol="0" anchor="ctr"/>
          <a:lstStyle/>
          <a:p>
            <a:pPr algn="ctr"/>
          </a:p>
        </p:txBody>
      </p:sp>
      <p:sp>
        <p:nvSpPr>
          <p:cNvPr id="10" name="Stage rail"/>
          <p:cNvSpPr/>
          <p:nvPr/>
        </p:nvSpPr>
        <p:spPr>
          <a:xfrm>
            <a:off x="6958583" y="2215219"/>
            <a:ext cx="4492447" cy="182880"/>
          </a:xfrm>
          <a:prstGeom prst="rect">
            <a:avLst/>
          </a:prstGeom>
          <a:solidFill>
            <a:srgbClr val="161C25"/>
          </a:solidFill>
          <a:ln>
            <a:noFill/>
          </a:ln>
        </p:spPr>
        <p:txBody>
          <a:bodyPr rtlCol="0" anchor="ctr"/>
          <a:lstStyle/>
          <a:p>
            <a:pPr algn="ctr"/>
          </a:p>
        </p:txBody>
      </p:sp>
      <p:sp>
        <p:nvSpPr>
          <p:cNvPr id="11" name="Step column"/>
          <p:cNvSpPr/>
          <p:nvPr/>
        </p:nvSpPr>
        <p:spPr>
          <a:xfrm>
            <a:off x="7077455" y="2516971"/>
            <a:ext cx="1097280" cy="1970360"/>
          </a:xfrm>
          <a:prstGeom prst="roundRect">
            <a:avLst>
              <a:gd name="adj" fmla="val 6000"/>
            </a:avLst>
          </a:prstGeom>
          <a:solidFill>
            <a:srgbClr val="1D2530"/>
          </a:solidFill>
          <a:ln w="12700">
            <a:solidFill>
              <a:srgbClr val="2E3339"/>
            </a:solidFill>
          </a:ln>
        </p:spPr>
        <p:txBody>
          <a:bodyPr rtlCol="0" anchor="ctr"/>
          <a:lstStyle/>
          <a:p>
            <a:pPr algn="ctr"/>
          </a:p>
        </p:txBody>
      </p:sp>
      <p:sp>
        <p:nvSpPr>
          <p:cNvPr id="12" name="Step dot 1"/>
          <p:cNvSpPr/>
          <p:nvPr/>
        </p:nvSpPr>
        <p:spPr>
          <a:xfrm>
            <a:off x="7187183" y="2773003"/>
            <a:ext cx="73152" cy="73152"/>
          </a:xfrm>
          <a:prstGeom prst="ellipse">
            <a:avLst/>
          </a:prstGeom>
          <a:solidFill>
            <a:srgbClr val="8FA3B8"/>
          </a:solidFill>
          <a:ln>
            <a:noFill/>
          </a:ln>
        </p:spPr>
        <p:txBody>
          <a:bodyPr rtlCol="0" anchor="ctr"/>
          <a:lstStyle/>
          <a:p>
            <a:pPr algn="ctr"/>
          </a:p>
        </p:txBody>
      </p:sp>
      <p:sp>
        <p:nvSpPr>
          <p:cNvPr id="13" name="Step row 1"/>
          <p:cNvSpPr/>
          <p:nvPr/>
        </p:nvSpPr>
        <p:spPr>
          <a:xfrm>
            <a:off x="7333488" y="2786719"/>
            <a:ext cx="713232" cy="45720"/>
          </a:xfrm>
          <a:prstGeom prst="rect">
            <a:avLst/>
          </a:prstGeom>
          <a:solidFill>
            <a:srgbClr val="43484F"/>
          </a:solidFill>
          <a:ln>
            <a:noFill/>
          </a:ln>
        </p:spPr>
        <p:txBody>
          <a:bodyPr rtlCol="0" anchor="ctr"/>
          <a:lstStyle/>
          <a:p>
            <a:pPr algn="ctr"/>
          </a:p>
        </p:txBody>
      </p:sp>
      <p:sp>
        <p:nvSpPr>
          <p:cNvPr id="14" name="Step dot 2"/>
          <p:cNvSpPr/>
          <p:nvPr/>
        </p:nvSpPr>
        <p:spPr>
          <a:xfrm>
            <a:off x="7187183" y="3047323"/>
            <a:ext cx="73152" cy="73152"/>
          </a:xfrm>
          <a:prstGeom prst="ellipse">
            <a:avLst/>
          </a:prstGeom>
          <a:solidFill>
            <a:srgbClr val="8FA3B8"/>
          </a:solidFill>
          <a:ln>
            <a:noFill/>
          </a:ln>
        </p:spPr>
        <p:txBody>
          <a:bodyPr rtlCol="0" anchor="ctr"/>
          <a:lstStyle/>
          <a:p>
            <a:pPr algn="ctr"/>
          </a:p>
        </p:txBody>
      </p:sp>
      <p:sp>
        <p:nvSpPr>
          <p:cNvPr id="15" name="Step row 2"/>
          <p:cNvSpPr/>
          <p:nvPr/>
        </p:nvSpPr>
        <p:spPr>
          <a:xfrm>
            <a:off x="7333488" y="3061039"/>
            <a:ext cx="548640" cy="45720"/>
          </a:xfrm>
          <a:prstGeom prst="rect">
            <a:avLst/>
          </a:prstGeom>
          <a:solidFill>
            <a:srgbClr val="43484F"/>
          </a:solidFill>
          <a:ln>
            <a:noFill/>
          </a:ln>
        </p:spPr>
        <p:txBody>
          <a:bodyPr rtlCol="0" anchor="ctr"/>
          <a:lstStyle/>
          <a:p>
            <a:pPr algn="ctr"/>
          </a:p>
        </p:txBody>
      </p:sp>
      <p:sp>
        <p:nvSpPr>
          <p:cNvPr id="16" name="Step dot 3"/>
          <p:cNvSpPr/>
          <p:nvPr/>
        </p:nvSpPr>
        <p:spPr>
          <a:xfrm>
            <a:off x="7187183" y="3321643"/>
            <a:ext cx="73152" cy="73152"/>
          </a:xfrm>
          <a:prstGeom prst="ellipse">
            <a:avLst/>
          </a:prstGeom>
          <a:solidFill>
            <a:srgbClr val="8FA3B8"/>
          </a:solidFill>
          <a:ln>
            <a:noFill/>
          </a:ln>
        </p:spPr>
        <p:txBody>
          <a:bodyPr rtlCol="0" anchor="ctr"/>
          <a:lstStyle/>
          <a:p>
            <a:pPr algn="ctr"/>
          </a:p>
        </p:txBody>
      </p:sp>
      <p:sp>
        <p:nvSpPr>
          <p:cNvPr id="17" name="Step row 3"/>
          <p:cNvSpPr/>
          <p:nvPr/>
        </p:nvSpPr>
        <p:spPr>
          <a:xfrm>
            <a:off x="7333488" y="3335359"/>
            <a:ext cx="713232" cy="45720"/>
          </a:xfrm>
          <a:prstGeom prst="rect">
            <a:avLst/>
          </a:prstGeom>
          <a:solidFill>
            <a:srgbClr val="43484F"/>
          </a:solidFill>
          <a:ln>
            <a:noFill/>
          </a:ln>
        </p:spPr>
        <p:txBody>
          <a:bodyPr rtlCol="0" anchor="ctr"/>
          <a:lstStyle/>
          <a:p>
            <a:pPr algn="ctr"/>
          </a:p>
        </p:txBody>
      </p:sp>
      <p:sp>
        <p:nvSpPr>
          <p:cNvPr id="18" name="Step dot 4"/>
          <p:cNvSpPr/>
          <p:nvPr/>
        </p:nvSpPr>
        <p:spPr>
          <a:xfrm>
            <a:off x="7187183" y="3595963"/>
            <a:ext cx="73152" cy="73152"/>
          </a:xfrm>
          <a:prstGeom prst="ellipse">
            <a:avLst/>
          </a:prstGeom>
          <a:solidFill>
            <a:srgbClr val="E9EEF3"/>
          </a:solidFill>
          <a:ln>
            <a:noFill/>
          </a:ln>
        </p:spPr>
        <p:txBody>
          <a:bodyPr rtlCol="0" anchor="ctr"/>
          <a:lstStyle/>
          <a:p>
            <a:pPr algn="ctr"/>
          </a:p>
        </p:txBody>
      </p:sp>
      <p:sp>
        <p:nvSpPr>
          <p:cNvPr id="19" name="Step row 4"/>
          <p:cNvSpPr/>
          <p:nvPr/>
        </p:nvSpPr>
        <p:spPr>
          <a:xfrm>
            <a:off x="7333488" y="3609679"/>
            <a:ext cx="548640" cy="45720"/>
          </a:xfrm>
          <a:prstGeom prst="rect">
            <a:avLst/>
          </a:prstGeom>
          <a:solidFill>
            <a:srgbClr val="E9EEF3"/>
          </a:solidFill>
          <a:ln>
            <a:noFill/>
          </a:ln>
        </p:spPr>
        <p:txBody>
          <a:bodyPr rtlCol="0" anchor="ctr"/>
          <a:lstStyle/>
          <a:p>
            <a:pPr algn="ctr"/>
          </a:p>
        </p:txBody>
      </p:sp>
      <p:sp>
        <p:nvSpPr>
          <p:cNvPr id="20" name="Step dot 5"/>
          <p:cNvSpPr/>
          <p:nvPr/>
        </p:nvSpPr>
        <p:spPr>
          <a:xfrm>
            <a:off x="7187183" y="3870283"/>
            <a:ext cx="73152" cy="73152"/>
          </a:xfrm>
          <a:prstGeom prst="ellipse">
            <a:avLst/>
          </a:prstGeom>
          <a:solidFill>
            <a:srgbClr val="8FA3B8"/>
          </a:solidFill>
          <a:ln>
            <a:noFill/>
          </a:ln>
        </p:spPr>
        <p:txBody>
          <a:bodyPr rtlCol="0" anchor="ctr"/>
          <a:lstStyle/>
          <a:p>
            <a:pPr algn="ctr"/>
          </a:p>
        </p:txBody>
      </p:sp>
      <p:sp>
        <p:nvSpPr>
          <p:cNvPr id="21" name="Step row 5"/>
          <p:cNvSpPr/>
          <p:nvPr/>
        </p:nvSpPr>
        <p:spPr>
          <a:xfrm>
            <a:off x="7333488" y="3883999"/>
            <a:ext cx="713232" cy="45720"/>
          </a:xfrm>
          <a:prstGeom prst="rect">
            <a:avLst/>
          </a:prstGeom>
          <a:solidFill>
            <a:srgbClr val="43484F"/>
          </a:solidFill>
          <a:ln>
            <a:noFill/>
          </a:ln>
        </p:spPr>
        <p:txBody>
          <a:bodyPr rtlCol="0" anchor="ctr"/>
          <a:lstStyle/>
          <a:p>
            <a:pPr algn="ctr"/>
          </a:p>
        </p:txBody>
      </p:sp>
      <p:sp>
        <p:nvSpPr>
          <p:cNvPr id="22" name="Step dot 6"/>
          <p:cNvSpPr/>
          <p:nvPr/>
        </p:nvSpPr>
        <p:spPr>
          <a:xfrm>
            <a:off x="7187183" y="4144603"/>
            <a:ext cx="73152" cy="73152"/>
          </a:xfrm>
          <a:prstGeom prst="ellipse">
            <a:avLst/>
          </a:prstGeom>
          <a:solidFill>
            <a:srgbClr val="8FA3B8"/>
          </a:solidFill>
          <a:ln>
            <a:noFill/>
          </a:ln>
        </p:spPr>
        <p:txBody>
          <a:bodyPr rtlCol="0" anchor="ctr"/>
          <a:lstStyle/>
          <a:p>
            <a:pPr algn="ctr"/>
          </a:p>
        </p:txBody>
      </p:sp>
      <p:sp>
        <p:nvSpPr>
          <p:cNvPr id="23" name="Step row 6"/>
          <p:cNvSpPr/>
          <p:nvPr/>
        </p:nvSpPr>
        <p:spPr>
          <a:xfrm>
            <a:off x="7333488" y="4158319"/>
            <a:ext cx="548640" cy="45720"/>
          </a:xfrm>
          <a:prstGeom prst="rect">
            <a:avLst/>
          </a:prstGeom>
          <a:solidFill>
            <a:srgbClr val="43484F"/>
          </a:solidFill>
          <a:ln>
            <a:noFill/>
          </a:ln>
        </p:spPr>
        <p:txBody>
          <a:bodyPr rtlCol="0" anchor="ctr"/>
          <a:lstStyle/>
          <a:p>
            <a:pPr algn="ctr"/>
          </a:p>
        </p:txBody>
      </p:sp>
      <p:sp>
        <p:nvSpPr>
          <p:cNvPr id="24" name="Evidence outline"/>
          <p:cNvSpPr/>
          <p:nvPr/>
        </p:nvSpPr>
        <p:spPr>
          <a:xfrm>
            <a:off x="9098280" y="2846155"/>
            <a:ext cx="1828800" cy="1371600"/>
          </a:xfrm>
          <a:custGeom>
            <a:avLst/>
            <a:gdLst/>
            <a:ahLst/>
            <a:cxnLst/>
            <a:rect l="l" t="t" r="r" b="b"/>
            <a:pathLst>
              <a:path w="1828800" h="1371600">
                <a:moveTo>
                  <a:pt x="182879" y="137160"/>
                </a:moveTo>
                <a:lnTo>
                  <a:pt x="1143000" y="0"/>
                </a:lnTo>
                <a:lnTo>
                  <a:pt x="1828800" y="502920"/>
                </a:lnTo>
                <a:lnTo>
                  <a:pt x="1600200" y="1234440"/>
                </a:lnTo>
                <a:lnTo>
                  <a:pt x="594360" y="1371600"/>
                </a:lnTo>
                <a:lnTo>
                  <a:pt x="0" y="822960"/>
                </a:lnTo>
                <a:close/>
              </a:path>
            </a:pathLst>
          </a:custGeom>
          <a:noFill/>
          <a:ln w="19050">
            <a:solidFill>
              <a:srgbClr val="E9EEF3"/>
            </a:solidFill>
            <a:prstDash val="dash"/>
          </a:ln>
        </p:spPr>
        <p:txBody>
          <a:bodyPr rtlCol="0" anchor="ctr"/>
          <a:lstStyle/>
          <a:p>
            <a:pPr algn="ctr"/>
          </a:p>
        </p:txBody>
      </p:sp>
      <p:sp>
        <p:nvSpPr>
          <p:cNvPr id="25" name="Evidence site"/>
          <p:cNvSpPr/>
          <p:nvPr/>
        </p:nvSpPr>
        <p:spPr>
          <a:xfrm>
            <a:off x="9880092" y="3399367"/>
            <a:ext cx="82296" cy="82296"/>
          </a:xfrm>
          <a:prstGeom prst="ellipse">
            <a:avLst/>
          </a:prstGeom>
          <a:solidFill>
            <a:srgbClr val="E9EEF3"/>
          </a:solidFill>
          <a:ln>
            <a:noFill/>
          </a:ln>
        </p:spPr>
        <p:txBody>
          <a:bodyPr rtlCol="0" anchor="ctr"/>
          <a:lstStyle/>
          <a:p>
            <a:pPr algn="ctr"/>
          </a:p>
        </p:txBody>
      </p:sp>
      <p:sp>
        <p:nvSpPr>
          <p:cNvPr id="26" name="Evidence site"/>
          <p:cNvSpPr/>
          <p:nvPr/>
        </p:nvSpPr>
        <p:spPr>
          <a:xfrm>
            <a:off x="10291572" y="3673687"/>
            <a:ext cx="82296" cy="82296"/>
          </a:xfrm>
          <a:prstGeom prst="ellipse">
            <a:avLst/>
          </a:prstGeom>
          <a:solidFill>
            <a:srgbClr val="E9EEF3"/>
          </a:solidFill>
          <a:ln>
            <a:noFill/>
          </a:ln>
        </p:spPr>
        <p:txBody>
          <a:bodyPr rtlCol="0" anchor="ctr"/>
          <a:lstStyle/>
          <a:p>
            <a:pPr algn="ctr"/>
          </a:p>
        </p:txBody>
      </p:sp>
      <p:sp>
        <p:nvSpPr>
          <p:cNvPr id="27" name="Evidence site"/>
          <p:cNvSpPr/>
          <p:nvPr/>
        </p:nvSpPr>
        <p:spPr>
          <a:xfrm>
            <a:off x="9605772" y="3765127"/>
            <a:ext cx="82296" cy="82296"/>
          </a:xfrm>
          <a:prstGeom prst="ellipse">
            <a:avLst/>
          </a:prstGeom>
          <a:solidFill>
            <a:srgbClr val="E9EEF3"/>
          </a:solidFill>
          <a:ln>
            <a:noFill/>
          </a:ln>
        </p:spPr>
        <p:txBody>
          <a:bodyPr rtlCol="0" anchor="ctr"/>
          <a:lstStyle/>
          <a:p>
            <a:pPr algn="ctr"/>
          </a:p>
        </p:txBody>
      </p:sp>
      <p:sp>
        <p:nvSpPr>
          <p:cNvPr id="28" name="Evidence site"/>
          <p:cNvSpPr/>
          <p:nvPr/>
        </p:nvSpPr>
        <p:spPr>
          <a:xfrm>
            <a:off x="10474452" y="3170767"/>
            <a:ext cx="82296" cy="82296"/>
          </a:xfrm>
          <a:prstGeom prst="ellipse">
            <a:avLst/>
          </a:prstGeom>
          <a:solidFill>
            <a:srgbClr val="E9EEF3"/>
          </a:solidFill>
          <a:ln>
            <a:noFill/>
          </a:ln>
        </p:spPr>
        <p:txBody>
          <a:bodyPr rtlCol="0" anchor="ctr"/>
          <a:lstStyle/>
          <a:p>
            <a:pPr algn="ctr"/>
          </a:p>
        </p:txBody>
      </p:sp>
      <p:sp>
        <p:nvSpPr>
          <p:cNvPr id="29" name="Console"/>
          <p:cNvSpPr/>
          <p:nvPr/>
        </p:nvSpPr>
        <p:spPr>
          <a:xfrm>
            <a:off x="8549640" y="4414180"/>
            <a:ext cx="2133295" cy="201168"/>
          </a:xfrm>
          <a:prstGeom prst="roundRect">
            <a:avLst>
              <a:gd name="adj" fmla="val 30000"/>
            </a:avLst>
          </a:prstGeom>
          <a:solidFill>
            <a:srgbClr val="161C25"/>
          </a:solidFill>
          <a:ln w="12700">
            <a:solidFill>
              <a:srgbClr val="2E3339"/>
            </a:solidFill>
          </a:ln>
        </p:spPr>
        <p:txBody>
          <a:bodyPr rtlCol="0" anchor="ctr"/>
          <a:lstStyle/>
          <a:p>
            <a:pPr algn="ctr"/>
          </a:p>
        </p:txBody>
      </p:sp>
      <p:sp>
        <p:nvSpPr>
          <p:cNvPr id="30" name="Schematic marker 1"/>
          <p:cNvSpPr/>
          <p:nvPr/>
        </p:nvSpPr>
        <p:spPr>
          <a:xfrm>
            <a:off x="7982711" y="2507827"/>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31" name="Schematic marker 2"/>
          <p:cNvSpPr/>
          <p:nvPr/>
        </p:nvSpPr>
        <p:spPr>
          <a:xfrm>
            <a:off x="10826496" y="2580979"/>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