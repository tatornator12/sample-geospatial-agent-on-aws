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8"/>
    <p:sldId id="257" r:id="rId9"/>
    <p:sldId id="258" r:id="rId10"/>
    <p:sldId id="262" r:id="rId14"/>
    <p:sldId id="259" r:id="rId11"/>
    <p:sldId id="261" r:id="rId1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sz="1400" b="1" lang="en-GB">
                <a:latin typeface="Atkinson Hyperlegible"/>
                <a:ea typeface="Atkinson Hyperlegible"/>
                <a:cs typeface="Atkinson Hyperlegible"/>
              </a:rPr>
              <a:t>Point to land: </a:t>
            </a:r>
            <a:r>
              <a:rPr sz="1400" b="0" lang="en-GB">
                <a:latin typeface="Atkinson Hyperlegible"/>
                <a:ea typeface="Atkinson Hyperlegible"/>
                <a:cs typeface="Atkinson Hyperlegible"/>
              </a:rPr>
              <a:t>The agent does the work; a person decides.</a:t>
            </a:r>
          </a:p>
          <a:p>
            <a:pPr>
              <a:spcAft>
                <a:spcPts val="800"/>
              </a:spcAft>
            </a:pPr>
            <a:r>
              <a:rPr sz="1400" b="1" lang="en-GB">
                <a:latin typeface="Atkinson Hyperlegible"/>
                <a:ea typeface="Atkinson Hyperlegible"/>
                <a:cs typeface="Atkinson Hyperlegible"/>
              </a:rPr>
              <a:t>Say: </a:t>
            </a:r>
            <a:r>
              <a:rPr sz="1400" b="0" lang="en-GB">
                <a:latin typeface="Atkinson Hyperlegible"/>
                <a:ea typeface="Atkinson Hyperlegible"/>
                <a:cs typeface="Atkinson Hyperlegible"/>
              </a:rPr>
              <a:t>Hello, and thanks for coming. I’m [Presenter name], and this is Agentic AI for Earth. In the next half hour you’ll see four short acts on a live stage, each with its own agent on Amazon Bedrock AgentCore. Each agent works through a question over real Earth observation data: it chains tools, reads the imagery, does the sums and drafts the answer. Then a person decides what happens next. Watch for where the agent’s work stops and ours begins.</a:t>
            </a:r>
          </a:p>
          <a:p>
            <a:pPr>
              <a:spcAft>
                <a:spcPts val="800"/>
              </a:spcAft>
            </a:pPr>
            <a:r>
              <a:rPr sz="1400" b="1" lang="en-GB">
                <a:latin typeface="Atkinson Hyperlegible"/>
                <a:ea typeface="Atkinson Hyperlegible"/>
                <a:cs typeface="Atkinson Hyperlegible"/>
              </a:rPr>
              <a:t>Transition: </a:t>
            </a:r>
            <a:r>
              <a:rPr sz="1400" b="0" lang="en-GB">
                <a:latin typeface="Atkinson Hyperlegible"/>
                <a:ea typeface="Atkinson Hyperlegible"/>
                <a:cs typeface="Atkinson Hyperlegible"/>
              </a:rPr>
              <a:t>First, why this matters.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sz="1400" b="1" lang="en-GB">
                <a:latin typeface="Atkinson Hyperlegible"/>
                <a:ea typeface="Atkinson Hyperlegible"/>
                <a:cs typeface="Atkinson Hyperlegible"/>
              </a:rPr>
              <a:t>Point to land: </a:t>
            </a:r>
            <a:r>
              <a:rPr sz="1400" b="0" lang="en-GB">
                <a:latin typeface="Atkinson Hyperlegible"/>
                <a:ea typeface="Atkinson Hyperlegible"/>
                <a:cs typeface="Atkinson Hyperlegible"/>
              </a:rPr>
              <a:t>There is more Earth data than people can read, so the agent reads and a person decides.</a:t>
            </a:r>
          </a:p>
          <a:p>
            <a:pPr>
              <a:spcAft>
                <a:spcPts val="800"/>
              </a:spcAft>
            </a:pPr>
            <a:r>
              <a:rPr sz="1400" b="1" lang="en-GB">
                <a:latin typeface="Atkinson Hyperlegible"/>
                <a:ea typeface="Atkinson Hyperlegible"/>
                <a:cs typeface="Atkinson Hyperlegible"/>
              </a:rPr>
              <a:t>Say: </a:t>
            </a:r>
            <a:r>
              <a:rPr sz="1400" b="0" lang="en-GB">
                <a:latin typeface="Atkinson Hyperlegible"/>
                <a:ea typeface="Atkinson Hyperlegible"/>
                <a:cs typeface="Atkinson Hyperlegible"/>
              </a:rPr>
              <a:t>Here’s the problem. Satellites photograph the whole planet again every few days, from dozens of missions, and most of it is never looked at closely by a person. The bottleneck isn’t the data, it’s people’s time to read it. So we hand the reading and the legwork to an agent: it finds the right data, looks at it, measures, and shows its evidence. A person makes the call.</a:t>
            </a:r>
          </a:p>
          <a:p>
            <a:pPr>
              <a:spcAft>
                <a:spcPts val="800"/>
              </a:spcAft>
            </a:pPr>
            <a:r>
              <a:rPr sz="1400" b="1" lang="en-GB">
                <a:latin typeface="Atkinson Hyperlegible"/>
                <a:ea typeface="Atkinson Hyperlegible"/>
                <a:cs typeface="Atkinson Hyperlegible"/>
              </a:rPr>
              <a:t>Transition: </a:t>
            </a:r>
            <a:r>
              <a:rPr sz="1400" b="0" lang="en-GB">
                <a:latin typeface="Atkinson Hyperlegible"/>
                <a:ea typeface="Atkinson Hyperlegible"/>
                <a:cs typeface="Atkinson Hyperlegible"/>
              </a:rPr>
              <a:t>Here are the four places we’ll see that.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sz="1400" b="1" lang="en-GB">
                <a:latin typeface="Atkinson Hyperlegible"/>
                <a:ea typeface="Atkinson Hyperlegible"/>
                <a:cs typeface="Atkinson Hyperlegible"/>
              </a:rPr>
              <a:t>Point to land: </a:t>
            </a:r>
            <a:r>
              <a:rPr sz="1400" b="0" lang="en-GB">
                <a:latin typeface="Atkinson Hyperlegible"/>
                <a:ea typeface="Atkinson Hyperlegible"/>
                <a:cs typeface="Atkinson Hyperlegible"/>
              </a:rPr>
              <a:t>Four different jobs, one platform.</a:t>
            </a:r>
          </a:p>
          <a:p>
            <a:pPr>
              <a:spcAft>
                <a:spcPts val="800"/>
              </a:spcAft>
            </a:pPr>
            <a:r>
              <a:rPr sz="1400" b="1" lang="en-GB">
                <a:latin typeface="Atkinson Hyperlegible"/>
                <a:ea typeface="Atkinson Hyperlegible"/>
                <a:cs typeface="Atkinson Hyperlegible"/>
              </a:rPr>
              <a:t>Say: </a:t>
            </a:r>
            <a:r>
              <a:rPr sz="1400" b="0" lang="en-GB">
                <a:latin typeface="Atkinson Hyperlegible"/>
                <a:ea typeface="Atkinson Hyperlegible"/>
                <a:cs typeface="Atkinson Hyperlegible"/>
              </a:rPr>
              <a:t>First, the Earth Analyst fetches a Sentinel-2 scene, looks at it, then measures plant health or finds similar places. Second, the AI Archaeologist reads LiDAR of earthworks already on the public record, and only those. Third, the Methane Hunter follows a satellite tip to a methane site, checks ground records and drafts a brief for an analyst. Last, Dark Vessels compares a radar pass over the Galápagos with ship broadcasts, called AIS, and checks where those broadcasts can be heard. A target that isn’t broadcasting there becomes a reason for a patrol to look. The agent predicts where to look next, and the officer decides whether to send one.</a:t>
            </a:r>
          </a:p>
          <a:p>
            <a:pPr>
              <a:spcAft>
                <a:spcPts val="800"/>
              </a:spcAft>
            </a:pPr>
            <a:r>
              <a:rPr sz="1400" b="1" lang="en-GB">
                <a:latin typeface="Atkinson Hyperlegible"/>
                <a:ea typeface="Atkinson Hyperlegible"/>
                <a:cs typeface="Atkinson Hyperlegible"/>
              </a:rPr>
              <a:t>Transition: </a:t>
            </a:r>
            <a:r>
              <a:rPr sz="1400" b="0" lang="en-GB">
                <a:latin typeface="Atkinson Hyperlegible"/>
                <a:ea typeface="Atkinson Hyperlegible"/>
                <a:cs typeface="Atkinson Hyperlegible"/>
              </a:rPr>
              <a:t>Let’s start with the Earth Analyst.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sz="1400" b="1" lang="en-GB">
                <a:latin typeface="Atkinson Hyperlegible"/>
                <a:ea typeface="Atkinson Hyperlegible"/>
                <a:cs typeface="Atkinson Hyperlegible"/>
              </a:rPr>
              <a:t>Point to land: </a:t>
            </a:r>
            <a:r>
              <a:rPr sz="1400" b="0" lang="en-GB">
                <a:latin typeface="Atkinson Hyperlegible"/>
                <a:ea typeface="Atkinson Hyperlegible"/>
                <a:cs typeface="Atkinson Hyperlegible"/>
              </a:rPr>
              <a:t>Four acts, one pattern: the agent does the legwork and drafts; a person decides.</a:t>
            </a:r>
          </a:p>
          <a:p>
            <a:pPr>
              <a:spcAft>
                <a:spcPts val="800"/>
              </a:spcAft>
            </a:pPr>
            <a:r>
              <a:rPr sz="1400" b="1" lang="en-GB">
                <a:latin typeface="Atkinson Hyperlegible"/>
                <a:ea typeface="Atkinson Hyperlegible"/>
                <a:cs typeface="Atkinson Hyperlegible"/>
              </a:rPr>
              <a:t>Say: </a:t>
            </a:r>
            <a:r>
              <a:rPr sz="1400" b="0" lang="en-GB">
                <a:latin typeface="Atkinson Hyperlegible"/>
                <a:ea typeface="Atkinson Hyperlegible"/>
                <a:cs typeface="Atkinson Hyperlegible"/>
              </a:rPr>
              <a:t>Four acts, one pattern. The Earth Analyst looked at a scene before it measured, and turned down a cloudy one. The AI Archaeologist looked at the LiDAR of each site like the Octagon and judged whether its walls still show. Methane Watch followed a satellite tip, checked it with a sharper instrument and an independent catalogue, and told us what it could not confirm. Dark Vessels chose its radar pass, checked whether a silence could mean anything there, predicted where to look and drafted a patrol; the officer decided whether it goes. Not every step was the model choosing live: some of the data was prepared ahead of time, and I’ve pointed out which. Each agent is its own runtime on Amazon Bedrock AgentCore, on one shared map. The agent does the legwork and drafts; a person decides. [Your call to action]</a:t>
            </a:r>
          </a:p>
          <a:p>
            <a:pPr>
              <a:spcAft>
                <a:spcPts val="800"/>
              </a:spcAft>
            </a:pPr>
            <a:r>
              <a:rPr sz="1400" b="1" lang="en-GB">
                <a:latin typeface="Atkinson Hyperlegible"/>
                <a:ea typeface="Atkinson Hyperlegible"/>
                <a:cs typeface="Atkinson Hyperlegible"/>
              </a:rPr>
              <a:t>Transition: </a:t>
            </a:r>
            <a:r>
              <a:rPr sz="1400" b="0" lang="en-GB">
                <a:latin typeface="Atkinson Hyperlegible"/>
                <a:ea typeface="Atkinson Hyperlegible"/>
                <a:cs typeface="Atkinson Hyperlegible"/>
              </a:rPr>
              <a:t>Here’s how it’s built.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sz="1400" b="1" lang="en-GB">
                <a:latin typeface="Atkinson Hyperlegible"/>
                <a:ea typeface="Atkinson Hyperlegible"/>
                <a:cs typeface="Atkinson Hyperlegible"/>
              </a:rPr>
              <a:t>Point to land: </a:t>
            </a:r>
            <a:r>
              <a:rPr sz="1400" b="0" lang="en-GB">
                <a:latin typeface="Atkinson Hyperlegible"/>
                <a:ea typeface="Atkinson Hyperlegible"/>
                <a:cs typeface="Atkinson Hyperlegible"/>
              </a:rPr>
              <a:t>Four agents share one model; the analyst or officer decides.</a:t>
            </a:r>
          </a:p>
          <a:p>
            <a:pPr>
              <a:spcAft>
                <a:spcPts val="800"/>
              </a:spcAft>
            </a:pPr>
            <a:r>
              <a:rPr sz="1400" b="1" lang="en-GB">
                <a:latin typeface="Atkinson Hyperlegible"/>
                <a:ea typeface="Atkinson Hyperlegible"/>
                <a:cs typeface="Atkinson Hyperlegible"/>
              </a:rPr>
              <a:t>Say: </a:t>
            </a:r>
            <a:r>
              <a:rPr sz="1400" b="0" lang="en-GB">
                <a:latin typeface="Atkinson Hyperlegible"/>
                <a:ea typeface="Atkinson Hyperlegible"/>
                <a:cs typeface="Atkinson Hyperlegible"/>
              </a:rPr>
              <a:t>Left to right. The analyst or officer asks in the web app, a React frontend and API backend on AWS Fargate behind Amazon CloudFront. It goes to one of four Strands agents, each on its own AgentCore runtime. Claude Sonnet 4.6 on Amazon Bedrock is the model the agents use. Along the bottom, the data sources: Sentinel-2 imagery, Sentinel-5P methane, Overture Maps and Clay embeddings from AWS Open Data; NASA’s EMIT plumes and FIRMS fires; Esri’s ArcGIS MCP server, OpenStreetMap, ESA’s Sentinel-1 plans, Sentinel-1 radar from Microsoft Planetary Computer, Global Fishing Watch, USGS LiDAR, the OGIM and GEM registries, Carbon Mapper’s public plume catalogue, and our own S3 bucket. Nothing is filed until the analyst or officer approves; then it goes to S3 and Slack.</a:t>
            </a:r>
          </a:p>
          <a:p>
            <a:pPr>
              <a:spcAft>
                <a:spcPts val="800"/>
              </a:spcAft>
            </a:pPr>
            <a:r>
              <a:rPr sz="1400" b="1" lang="en-GB">
                <a:latin typeface="Atkinson Hyperlegible"/>
                <a:ea typeface="Atkinson Hyperlegible"/>
                <a:cs typeface="Atkinson Hyperlegible"/>
              </a:rPr>
              <a:t>Transition: </a:t>
            </a:r>
            <a:r>
              <a:rPr sz="1400" b="0" lang="en-GB">
                <a:latin typeface="Atkinson Hyperlegible"/>
                <a:ea typeface="Atkinson Hyperlegible"/>
                <a:cs typeface="Atkinson Hyperlegible"/>
              </a:rPr>
              <a:t>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sz="1400" b="1" lang="en-GB">
                <a:latin typeface="Atkinson Hyperlegible"/>
                <a:ea typeface="Atkinson Hyperlegible"/>
                <a:cs typeface="Atkinson Hyperlegible"/>
              </a:rPr>
              <a:t>Point to land: </a:t>
            </a:r>
            <a:r>
              <a:rPr sz="1400" b="0" lang="en-GB">
                <a:latin typeface="Atkinson Hyperlegible"/>
                <a:ea typeface="Atkinson Hyperlegible"/>
                <a:cs typeface="Atkinson Hyperlegible"/>
              </a:rPr>
              <a:t>Backup for technical questions; every box on it comes from the code.</a:t>
            </a:r>
          </a:p>
          <a:p>
            <a:pPr>
              <a:spcAft>
                <a:spcPts val="800"/>
              </a:spcAft>
            </a:pPr>
            <a:r>
              <a:rPr sz="1400" b="1" lang="en-GB">
                <a:latin typeface="Atkinson Hyperlegible"/>
                <a:ea typeface="Atkinson Hyperlegible"/>
                <a:cs typeface="Atkinson Hyperlegible"/>
              </a:rPr>
              <a:t>Say: </a:t>
            </a:r>
            <a:r>
              <a:rPr sz="1400" b="0" lang="en-GB">
                <a:latin typeface="Atkinson Hyperlegible"/>
                <a:ea typeface="Atkinson Hyperlegible"/>
                <a:cs typeface="Atkinson Hyperlegible"/>
              </a:rPr>
              <a:t>Only if someone asks how it works. Walk it left to right, as on the earlier slide, then answer from the lines below.</a:t>
            </a:r>
          </a:p>
          <a:p>
            <a:pPr>
              <a:spcAft>
                <a:spcPts val="800"/>
              </a:spcAft>
            </a:pPr>
            <a:r>
              <a:rPr sz="1400" b="1" lang="en-GB">
                <a:latin typeface="Atkinson Hyperlegible"/>
                <a:ea typeface="Atkinson Hyperlegible"/>
                <a:cs typeface="Atkinson Hyperlegible"/>
              </a:rPr>
              <a:t>If asked about sign-in and traffic: </a:t>
            </a:r>
            <a:r>
              <a:rPr sz="1400" b="0" lang="en-GB">
                <a:latin typeface="Atkinson Hyperlegible"/>
                <a:ea typeface="Atkinson Hyperlegible"/>
                <a:cs typeface="Atkinson Hyperlegible"/>
              </a:rPr>
              <a:t>Amazon Cognito user pool, with users added by an admin only. The browser signs in and the backend checks the token on every API call. Requests go through CloudFront with AWS WAF, then an Application Load Balancer that only accepts CloudFront’s secret header, then one container image on ECS Fargate that serves the React frontend and the Express API backend.</a:t>
            </a:r>
          </a:p>
          <a:p>
            <a:pPr>
              <a:spcAft>
                <a:spcPts val="800"/>
              </a:spcAft>
            </a:pPr>
            <a:r>
              <a:rPr sz="1400" b="1" lang="en-GB">
                <a:latin typeface="Atkinson Hyperlegible"/>
                <a:ea typeface="Atkinson Hyperlegible"/>
                <a:cs typeface="Atkinson Hyperlegible"/>
              </a:rPr>
              <a:t>If asked about the agents: </a:t>
            </a:r>
            <a:r>
              <a:rPr sz="1400" b="0" lang="en-GB">
                <a:latin typeface="Atkinson Hyperlegible"/>
                <a:ea typeface="Atkinson Hyperlegible"/>
                <a:cs typeface="Atkinson Hyperlegible"/>
              </a:rPr>
              <a:t>Four AgentCore runtimes, one per agent, each a Strands agent with its own tools. The backend calls InvokeAgentRuntime and streams each step back as server-sent events. All four call one model, Claude Sonnet 4.6 on Amazon Bedrock, through the US cross-Region inference profile; that is why it sits in its own box. Conversation history is kept in S3, not in AgentCore Memory.</a:t>
            </a:r>
          </a:p>
          <a:p>
            <a:pPr>
              <a:spcAft>
                <a:spcPts val="800"/>
              </a:spcAft>
            </a:pPr>
            <a:r>
              <a:rPr sz="1400" b="1" lang="en-GB">
                <a:latin typeface="Atkinson Hyperlegible"/>
                <a:ea typeface="Atkinson Hyperlegible"/>
                <a:cs typeface="Atkinson Hyperlegible"/>
              </a:rPr>
              <a:t>If asked about data: </a:t>
            </a:r>
            <a:r>
              <a:rPr sz="1400" b="0" lang="en-GB">
                <a:latin typeface="Atkinson Hyperlegible"/>
                <a:ea typeface="Atkinson Hyperlegible"/>
                <a:cs typeface="Atkinson Hyperlegible"/>
              </a:rPr>
              <a:t>The agents read Sentinel-2 from AWS Open Data, the Clay embeddings through a Lambda fan-out with DuckDB, Esri’s ArcGIS MCP server, OpenStreetMap and ESA’s Sentinel-1 plans when asked. The methane data, Sentinel-5P from AWS Open Data with NASA EMIT and FIRMS and Carbon Mapper’s public plumes (the Tanager-1 satellite and EMIT, from data.carbonmapper.org, credited on the stage), is warmed into S3 the day before and on the day, and fetched only if something is missing. The radar and AIS from Microsoft Planetary Computer and Global Fishing Watch, the USGS 3DEP LiDAR and the OGIM and GEM registries are built into S3 by scripts before the show, so the agents never call those providers during it.</a:t>
            </a:r>
          </a:p>
          <a:p>
            <a:pPr>
              <a:spcAft>
                <a:spcPts val="800"/>
              </a:spcAft>
            </a:pPr>
            <a:r>
              <a:rPr sz="1400" b="1" lang="en-GB">
                <a:latin typeface="Atkinson Hyperlegible"/>
                <a:ea typeface="Atkinson Hyperlegible"/>
                <a:cs typeface="Atkinson Hyperlegible"/>
              </a:rPr>
              <a:t>If asked about decisions: </a:t>
            </a:r>
            <a:r>
              <a:rPr sz="1400" b="0" lang="en-GB">
                <a:latin typeface="Atkinson Hyperlegible"/>
                <a:ea typeface="Atkinson Hyperlegible"/>
                <a:cs typeface="Atkinson Hyperlegible"/>
              </a:rPr>
              <a:t>Nothing is filed until the analyst or the officer clicks. The backend writes the record to S3 and posts to Slack; the brief’s Slack webhook URL comes from Secrets Manager.</a:t>
            </a:r>
          </a:p>
          <a:p>
            <a:pPr>
              <a:spcAft>
                <a:spcPts val="800"/>
              </a:spcAft>
            </a:pPr>
            <a:r>
              <a:rPr sz="1400" b="1" lang="en-GB">
                <a:latin typeface="Atkinson Hyperlegible"/>
                <a:ea typeface="Atkinson Hyperlegible"/>
                <a:cs typeface="Atkinson Hyperlegible"/>
              </a:rPr>
              <a:t>If asked about tracing: </a:t>
            </a:r>
            <a:r>
              <a:rPr sz="1400" b="0" lang="en-GB">
                <a:latin typeface="Atkinson Hyperlegible"/>
                <a:ea typeface="Atkinson Hyperlegible"/>
                <a:cs typeface="Atkinson Hyperlegible"/>
              </a:rPr>
              <a:t>The web app’s logs and Container Insights go to Amazon CloudWatch. Agent traces aren’t on this diagram because they weren’t confirmed for the deployed runtimes, so don’t promise a trace view.</a:t>
            </a:r>
          </a:p>
          <a:p>
            <a:pPr>
              <a:spcAft>
                <a:spcPts val="800"/>
              </a:spcAft>
            </a:pPr>
            <a:r>
              <a:rPr sz="1400" b="1" lang="en-GB">
                <a:latin typeface="Atkinson Hyperlegible"/>
                <a:ea typeface="Atkinson Hyperlegible"/>
                <a:cs typeface="Atkinson Hyperlegible"/>
              </a:rPr>
              <a:t>Transition: </a:t>
            </a:r>
            <a:r>
              <a:rPr sz="1400" b="0" lang="en-GB">
                <a:latin typeface="Atkinson Hyperlegible"/>
                <a:ea typeface="Atkinson Hyperlegible"/>
                <a:cs typeface="Atkinson Hyperlegible"/>
              </a:rPr>
              <a:t>Back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notesSlide" Target="../notesSlides/notesSlide6.xml"/><Relationship Id="rId4"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41B"/>
        </a:solidFill>
        <a:effectLst/>
      </p:bgPr>
    </p:bg>
    <p:spTree>
      <p:nvGrpSpPr>
        <p:cNvPr id="1" name=""/>
        <p:cNvGrpSpPr/>
        <p:nvPr/>
      </p:nvGrpSpPr>
      <p:grpSpPr/>
      <p:sp>
        <p:nvSpPr>
          <p:cNvPr id="2" name="Decorative limb"/>
          <p:cNvSpPr/>
          <p:nvPr/>
        </p:nvSpPr>
        <p:spPr>
          <a:xfrm>
            <a:off x="5760720" y="4572000"/>
            <a:ext cx="12070080" cy="12070080"/>
          </a:xfrm>
          <a:prstGeom prst="ellipse">
            <a:avLst/>
          </a:prstGeom>
          <a:solidFill>
            <a:srgbClr val="121923"/>
          </a:solidFill>
          <a:ln w="22225">
            <a:solidFill>
              <a:srgbClr val="2B4A66"/>
            </a:solidFill>
          </a:ln>
        </p:spPr>
        <p:txBody>
          <a:bodyPr rtlCol="0" anchor="ctr"/>
          <a:lstStyle/>
          <a:p>
            <a:pPr algn="ctr"/>
          </a:p>
        </p:txBody>
      </p:sp>
      <p:sp>
        <p:nvSpPr>
          <p:cNvPr id="3" name="Title"/>
          <p:cNvSpPr>
            <a:spLocks noGrp="1"/>
          </p:cNvSpPr>
          <p:nvPr>
            <p:ph type="title"/>
          </p:nvPr>
        </p:nvSpPr>
        <p:spPr>
          <a:xfrm>
            <a:off x="731520" y="1965960"/>
            <a:ext cx="9601200" cy="1005840"/>
          </a:xfrm>
          <a:prstGeom prst="rect">
            <a:avLst/>
          </a:prstGeom>
          <a:noFill/>
        </p:spPr>
        <p:txBody>
          <a:bodyPr wrap="square" lIns="0" rIns="0" tIns="0" bIns="0" anchor="t">
            <a:noAutofit/>
          </a:bodyPr>
          <a:lstStyle/>
          <a:p>
            <a:pPr algn="l">
              <a:lnSpc>
                <a:spcPct val="100000"/>
              </a:lnSpc>
              <a:spcBef>
                <a:spcPts val="0"/>
              </a:spcBef>
              <a:spcAft>
                <a:spcPts val="0"/>
              </a:spcAft>
            </a:pPr>
            <a:r>
              <a:rPr sz="6000" b="1" lang="en-GB">
                <a:solidFill>
                  <a:srgbClr val="E9EEF3"/>
                </a:solidFill>
                <a:latin typeface="Atkinson Hyperlegible"/>
                <a:ea typeface="Atkinson Hyperlegible"/>
                <a:cs typeface="Atkinson Hyperlegible"/>
              </a:rPr>
              <a:t>Agentic AI for Earth</a:t>
            </a:r>
          </a:p>
        </p:txBody>
      </p:sp>
      <p:sp>
        <p:nvSpPr>
          <p:cNvPr id="4" name="Amber rule"/>
          <p:cNvSpPr/>
          <p:nvPr/>
        </p:nvSpPr>
        <p:spPr>
          <a:xfrm>
            <a:off x="731520" y="3127248"/>
            <a:ext cx="1097280" cy="45720"/>
          </a:xfrm>
          <a:prstGeom prst="rect">
            <a:avLst/>
          </a:prstGeom>
          <a:solidFill>
            <a:srgbClr val="F5A524"/>
          </a:solidFill>
          <a:ln>
            <a:noFill/>
          </a:ln>
        </p:spPr>
        <p:txBody>
          <a:bodyPr rtlCol="0" anchor="ctr"/>
          <a:lstStyle/>
          <a:p>
            <a:pPr algn="ctr"/>
          </a:p>
        </p:txBody>
      </p:sp>
      <p:sp>
        <p:nvSpPr>
          <p:cNvPr id="5" name="Subtitle"/>
          <p:cNvSpPr txBox="1"/>
          <p:nvPr/>
        </p:nvSpPr>
        <p:spPr>
          <a:xfrm>
            <a:off x="731520" y="3364992"/>
            <a:ext cx="9601200" cy="548640"/>
          </a:xfrm>
          <a:prstGeom prst="rect">
            <a:avLst/>
          </a:prstGeom>
          <a:noFill/>
        </p:spPr>
        <p:txBody>
          <a:bodyPr wrap="square" lIns="0" rIns="0" tIns="0" bIns="0" anchor="t">
            <a:noAutofit/>
          </a:bodyPr>
          <a:lstStyle/>
          <a:p>
            <a:pPr algn="l">
              <a:lnSpc>
                <a:spcPct val="110000"/>
              </a:lnSpc>
              <a:spcBef>
                <a:spcPts val="0"/>
              </a:spcBef>
              <a:spcAft>
                <a:spcPts val="0"/>
              </a:spcAft>
            </a:pPr>
            <a:r>
              <a:rPr sz="2800" b="0" lang="en-GB">
                <a:solidFill>
                  <a:srgbClr val="E9EEF3"/>
                </a:solidFill>
                <a:latin typeface="Atkinson Hyperlegible"/>
                <a:ea typeface="Atkinson Hyperlegible"/>
                <a:cs typeface="Atkinson Hyperlegible"/>
              </a:rPr>
              <a:t>on Amazon Bedrock AgentCore</a:t>
            </a:r>
          </a:p>
        </p:txBody>
      </p:sp>
      <p:sp>
        <p:nvSpPr>
          <p:cNvPr id="6" name="Presenter and date"/>
          <p:cNvSpPr txBox="1"/>
          <p:nvPr/>
        </p:nvSpPr>
        <p:spPr>
          <a:xfrm>
            <a:off x="731520" y="5029200"/>
            <a:ext cx="5486400" cy="960120"/>
          </a:xfrm>
          <a:prstGeom prst="rect">
            <a:avLst/>
          </a:prstGeom>
          <a:noFill/>
        </p:spPr>
        <p:txBody>
          <a:bodyPr wrap="square" lIns="0" rIns="0" tIns="0" bIns="0" anchor="t">
            <a:noAutofit/>
          </a:bodyPr>
          <a:lstStyle/>
          <a:p>
            <a:pPr algn="l">
              <a:lnSpc>
                <a:spcPct val="110000"/>
              </a:lnSpc>
              <a:spcBef>
                <a:spcPts val="0"/>
              </a:spcBef>
              <a:spcAft>
                <a:spcPts val="600"/>
              </a:spcAft>
            </a:pPr>
            <a:r>
              <a:rPr sz="2400" b="0" lang="en-GB">
                <a:solidFill>
                  <a:srgbClr val="8FA3B8"/>
                </a:solidFill>
                <a:latin typeface="Atkinson Hyperlegible"/>
                <a:ea typeface="Atkinson Hyperlegible"/>
                <a:cs typeface="Atkinson Hyperlegible"/>
              </a:rPr>
              <a:t>Presenter name</a:t>
            </a:r>
          </a:p>
          <a:p>
            <a:pPr algn="l">
              <a:lnSpc>
                <a:spcPct val="110000"/>
              </a:lnSpc>
              <a:spcBef>
                <a:spcPts val="0"/>
              </a:spcBef>
              <a:spcAft>
                <a:spcPts val="0"/>
              </a:spcAft>
            </a:pPr>
            <a:r>
              <a:rPr sz="2400" b="0" lang="en-GB">
                <a:solidFill>
                  <a:srgbClr val="8FA3B8"/>
                </a:solidFill>
                <a:latin typeface="Atkinson Hyperlegible"/>
                <a:ea typeface="Atkinson Hyperlegible"/>
                <a:cs typeface="Atkinson Hyperlegible"/>
              </a:rPr>
              <a:t>9 November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41B"/>
        </a:solidFill>
        <a:effectLst/>
      </p:bgPr>
    </p:bg>
    <p:spTree>
      <p:nvGrpSpPr>
        <p:cNvPr id="1" name=""/>
        <p:cNvGrpSpPr/>
        <p:nvPr/>
      </p:nvGrpSpPr>
      <p:grpSpPr/>
      <p:sp>
        <p:nvSpPr>
          <p:cNvPr id="2" name="Title"/>
          <p:cNvSpPr>
            <a:spLocks noGrp="1"/>
          </p:cNvSpPr>
          <p:nvPr>
            <p:ph type="title"/>
          </p:nvPr>
        </p:nvSpPr>
        <p:spPr>
          <a:xfrm>
            <a:off x="731520" y="548640"/>
            <a:ext cx="10728655" cy="731520"/>
          </a:xfrm>
          <a:prstGeom prst="rect">
            <a:avLst/>
          </a:prstGeom>
          <a:noFill/>
        </p:spPr>
        <p:txBody>
          <a:bodyPr wrap="square" lIns="0" rIns="0" tIns="0" bIns="0" anchor="t">
            <a:noAutofit/>
          </a:bodyPr>
          <a:lstStyle/>
          <a:p>
            <a:pPr algn="l">
              <a:lnSpc>
                <a:spcPct val="100000"/>
              </a:lnSpc>
              <a:spcBef>
                <a:spcPts val="0"/>
              </a:spcBef>
              <a:spcAft>
                <a:spcPts val="0"/>
              </a:spcAft>
            </a:pPr>
            <a:r>
              <a:rPr sz="4000" b="1" lang="en-GB">
                <a:solidFill>
                  <a:srgbClr val="E9EEF3"/>
                </a:solidFill>
                <a:latin typeface="Atkinson Hyperlegible"/>
                <a:ea typeface="Atkinson Hyperlegible"/>
                <a:cs typeface="Atkinson Hyperlegible"/>
              </a:rPr>
              <a:t>Why this matters</a:t>
            </a:r>
          </a:p>
        </p:txBody>
      </p:sp>
      <p:sp>
        <p:nvSpPr>
          <p:cNvPr id="3" name="Why 1"/>
          <p:cNvSpPr txBox="1"/>
          <p:nvPr/>
        </p:nvSpPr>
        <p:spPr>
          <a:xfrm>
            <a:off x="1280160" y="2286000"/>
            <a:ext cx="10180015" cy="533400"/>
          </a:xfrm>
          <a:prstGeom prst="rect">
            <a:avLst/>
          </a:prstGeom>
          <a:noFill/>
        </p:spPr>
        <p:txBody>
          <a:bodyPr wrap="square" lIns="0" rIns="0" tIns="0" bIns="0" anchor="t">
            <a:noAutofit/>
          </a:bodyPr>
          <a:lstStyle/>
          <a:p>
            <a:pPr algn="l">
              <a:lnSpc>
                <a:spcPct val="100000"/>
              </a:lnSpc>
              <a:spcBef>
                <a:spcPts val="0"/>
              </a:spcBef>
              <a:spcAft>
                <a:spcPts val="0"/>
              </a:spcAft>
            </a:pPr>
            <a:r>
              <a:rPr sz="3200" b="0" lang="en-GB">
                <a:solidFill>
                  <a:srgbClr val="E9EEF3"/>
                </a:solidFill>
                <a:latin typeface="Atkinson Hyperlegible"/>
                <a:ea typeface="Atkinson Hyperlegible"/>
                <a:cs typeface="Atkinson Hyperlegible"/>
              </a:rPr>
              <a:t>More Earth observation data than people can read</a:t>
            </a:r>
          </a:p>
        </p:txBody>
      </p:sp>
      <p:sp>
        <p:nvSpPr>
          <p:cNvPr id="4" name="Why 2"/>
          <p:cNvSpPr txBox="1"/>
          <p:nvPr/>
        </p:nvSpPr>
        <p:spPr>
          <a:xfrm>
            <a:off x="1280160" y="3459480"/>
            <a:ext cx="10180015" cy="533400"/>
          </a:xfrm>
          <a:prstGeom prst="rect">
            <a:avLst/>
          </a:prstGeom>
          <a:noFill/>
        </p:spPr>
        <p:txBody>
          <a:bodyPr wrap="square" lIns="0" rIns="0" tIns="0" bIns="0" anchor="t">
            <a:noAutofit/>
          </a:bodyPr>
          <a:lstStyle/>
          <a:p>
            <a:pPr algn="l">
              <a:lnSpc>
                <a:spcPct val="100000"/>
              </a:lnSpc>
              <a:spcBef>
                <a:spcPts val="0"/>
              </a:spcBef>
              <a:spcAft>
                <a:spcPts val="0"/>
              </a:spcAft>
            </a:pPr>
            <a:r>
              <a:rPr sz="3200" b="0" lang="en-GB">
                <a:solidFill>
                  <a:srgbClr val="E9EEF3"/>
                </a:solidFill>
                <a:latin typeface="Atkinson Hyperlegible"/>
                <a:ea typeface="Atkinson Hyperlegible"/>
                <a:cs typeface="Atkinson Hyperlegible"/>
              </a:rPr>
              <a:t>The agent does the reading and the legwork</a:t>
            </a:r>
          </a:p>
        </p:txBody>
      </p:sp>
      <p:sp>
        <p:nvSpPr>
          <p:cNvPr id="5" name="Why 3"/>
          <p:cNvSpPr txBox="1"/>
          <p:nvPr/>
        </p:nvSpPr>
        <p:spPr>
          <a:xfrm>
            <a:off x="1280160" y="4632960"/>
            <a:ext cx="10180015" cy="533400"/>
          </a:xfrm>
          <a:prstGeom prst="rect">
            <a:avLst/>
          </a:prstGeom>
          <a:noFill/>
        </p:spPr>
        <p:txBody>
          <a:bodyPr wrap="square" lIns="0" rIns="0" tIns="0" bIns="0" anchor="t">
            <a:noAutofit/>
          </a:bodyPr>
          <a:lstStyle/>
          <a:p>
            <a:pPr algn="l">
              <a:lnSpc>
                <a:spcPct val="100000"/>
              </a:lnSpc>
              <a:spcBef>
                <a:spcPts val="0"/>
              </a:spcBef>
              <a:spcAft>
                <a:spcPts val="0"/>
              </a:spcAft>
            </a:pPr>
            <a:r>
              <a:rPr sz="3200" b="0" lang="en-GB">
                <a:solidFill>
                  <a:srgbClr val="E9EEF3"/>
                </a:solidFill>
                <a:latin typeface="Atkinson Hyperlegible"/>
                <a:ea typeface="Atkinson Hyperlegible"/>
                <a:cs typeface="Atkinson Hyperlegible"/>
              </a:rPr>
              <a:t>A person makes the call</a:t>
            </a:r>
          </a:p>
        </p:txBody>
      </p:sp>
      <p:cxnSp>
        <p:nvCxnSpPr>
          <p:cNvPr id="6" name="Why rail"/>
          <p:cNvCxnSpPr/>
          <p:nvPr/>
        </p:nvCxnSpPr>
        <p:spPr>
          <a:xfrm>
            <a:off x="841248" y="2570480"/>
            <a:ext cx="0" cy="2346960"/>
          </a:xfrm>
          <a:prstGeom prst="line">
            <a:avLst/>
          </a:prstGeom>
          <a:ln w="19050">
            <a:solidFill>
              <a:srgbClr val="43484F"/>
            </a:solidFill>
          </a:ln>
        </p:spPr>
      </p:cxnSp>
      <p:sp>
        <p:nvSpPr>
          <p:cNvPr id="7" name="Why dot 1"/>
          <p:cNvSpPr/>
          <p:nvPr/>
        </p:nvSpPr>
        <p:spPr>
          <a:xfrm>
            <a:off x="749808" y="2479039"/>
            <a:ext cx="182880" cy="182880"/>
          </a:xfrm>
          <a:prstGeom prst="ellipse">
            <a:avLst/>
          </a:prstGeom>
          <a:solidFill>
            <a:srgbClr val="8FA3B8"/>
          </a:solidFill>
          <a:ln>
            <a:noFill/>
          </a:ln>
        </p:spPr>
        <p:txBody>
          <a:bodyPr rtlCol="0" anchor="ctr"/>
          <a:lstStyle/>
          <a:p>
            <a:pPr algn="ctr"/>
          </a:p>
        </p:txBody>
      </p:sp>
      <p:sp>
        <p:nvSpPr>
          <p:cNvPr id="8" name="Why dot 2"/>
          <p:cNvSpPr/>
          <p:nvPr/>
        </p:nvSpPr>
        <p:spPr>
          <a:xfrm>
            <a:off x="749808" y="3652519"/>
            <a:ext cx="182880" cy="182880"/>
          </a:xfrm>
          <a:prstGeom prst="ellipse">
            <a:avLst/>
          </a:prstGeom>
          <a:solidFill>
            <a:srgbClr val="8FA3B8"/>
          </a:solidFill>
          <a:ln>
            <a:noFill/>
          </a:ln>
        </p:spPr>
        <p:txBody>
          <a:bodyPr rtlCol="0" anchor="ctr"/>
          <a:lstStyle/>
          <a:p>
            <a:pPr algn="ctr"/>
          </a:p>
        </p:txBody>
      </p:sp>
      <p:sp>
        <p:nvSpPr>
          <p:cNvPr id="9" name="Why dot 3"/>
          <p:cNvSpPr/>
          <p:nvPr/>
        </p:nvSpPr>
        <p:spPr>
          <a:xfrm>
            <a:off x="731520" y="4807711"/>
            <a:ext cx="219456" cy="219456"/>
          </a:xfrm>
          <a:prstGeom prst="ellipse">
            <a:avLst/>
          </a:prstGeom>
          <a:solidFill>
            <a:srgbClr val="F5A524"/>
          </a:solidFill>
          <a:ln>
            <a:noFill/>
          </a:ln>
        </p:spPr>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41B"/>
        </a:solidFill>
        <a:effectLst/>
      </p:bgPr>
    </p:bg>
    <p:spTree>
      <p:nvGrpSpPr>
        <p:cNvPr id="1" name=""/>
        <p:cNvGrpSpPr/>
        <p:nvPr/>
      </p:nvGrpSpPr>
      <p:grpSpPr/>
      <p:sp>
        <p:nvSpPr>
          <p:cNvPr id="2" name="Title"/>
          <p:cNvSpPr>
            <a:spLocks noGrp="1"/>
          </p:cNvSpPr>
          <p:nvPr>
            <p:ph type="title"/>
          </p:nvPr>
        </p:nvSpPr>
        <p:spPr>
          <a:xfrm>
            <a:off x="731520" y="548640"/>
            <a:ext cx="10728655" cy="731520"/>
          </a:xfrm>
          <a:prstGeom prst="rect">
            <a:avLst/>
          </a:prstGeom>
          <a:noFill/>
        </p:spPr>
        <p:txBody>
          <a:bodyPr wrap="square" lIns="0" rIns="0" tIns="0" bIns="0" anchor="t">
            <a:noAutofit/>
          </a:bodyPr>
          <a:lstStyle/>
          <a:p>
            <a:pPr algn="l">
              <a:lnSpc>
                <a:spcPct val="100000"/>
              </a:lnSpc>
              <a:spcBef>
                <a:spcPts val="0"/>
              </a:spcBef>
              <a:spcAft>
                <a:spcPts val="0"/>
              </a:spcAft>
            </a:pPr>
            <a:r>
              <a:rPr sz="4000" b="1" lang="en-GB">
                <a:solidFill>
                  <a:srgbClr val="E9EEF3"/>
                </a:solidFill>
                <a:latin typeface="Atkinson Hyperlegible"/>
                <a:ea typeface="Atkinson Hyperlegible"/>
                <a:cs typeface="Atkinson Hyperlegible"/>
              </a:rPr>
              <a:t>Four acts, one map</a:t>
            </a:r>
          </a:p>
        </p:txBody>
      </p:sp>
      <p:pic>
        <p:nvPicPr>
          <p:cNvPr id="3" name="Act 1 screenshot" descr="Earth Analyst on the stage: a plant-health (NDVI) layer over Central Park, New York, inside a cyan boundary."/>
          <p:cNvPicPr>
            <a:picLocks noChangeAspect="1"/>
          </p:cNvPicPr>
          <p:nvPr/>
        </p:nvPicPr>
        <p:blipFill>
          <a:blip r:embed="rId2"/>
          <a:stretch>
            <a:fillRect/>
          </a:stretch>
        </p:blipFill>
        <p:spPr>
          <a:xfrm>
            <a:off x="731520" y="2057400"/>
            <a:ext cx="2531287" cy="1855334"/>
          </a:xfrm>
          <a:prstGeom prst="roundRect">
            <a:avLst>
              <a:gd name="adj" fmla="val 3500"/>
            </a:avLst>
          </a:prstGeom>
          <a:ln w="12700">
            <a:solidFill>
              <a:srgbClr val="43484F"/>
            </a:solidFill>
          </a:ln>
        </p:spPr>
      </p:pic>
      <p:sp>
        <p:nvSpPr>
          <p:cNvPr id="4" name="Act 1 number"/>
          <p:cNvSpPr/>
          <p:nvPr/>
        </p:nvSpPr>
        <p:spPr>
          <a:xfrm>
            <a:off x="832104" y="2157984"/>
            <a:ext cx="384048" cy="384048"/>
          </a:xfrm>
          <a:prstGeom prst="ellipse">
            <a:avLst/>
          </a:prstGeom>
          <a:solidFill>
            <a:srgbClr val="1D2530"/>
          </a:solidFill>
          <a:ln w="12700">
            <a:solidFill>
              <a:srgbClr val="43484F"/>
            </a:solidFill>
          </a:ln>
        </p:spPr>
        <p:txBody>
          <a:bodyPr rtlCol="0" anchor="ctr" lIns="0" rIns="0" tIns="0" bIns="0" wrap="none"/>
          <a:lstStyle/>
          <a:p>
            <a:pPr algn="ctr"/>
            <a:r>
              <a:rPr sz="2000" b="1" lang="en-GB">
                <a:solidFill>
                  <a:srgbClr val="E9EEF3"/>
                </a:solidFill>
                <a:latin typeface="Menlo"/>
                <a:ea typeface="Menlo"/>
                <a:cs typeface="Menlo"/>
              </a:rPr>
              <a:t>1</a:t>
            </a:r>
          </a:p>
        </p:txBody>
      </p:sp>
      <p:sp>
        <p:nvSpPr>
          <p:cNvPr id="5" name="Act 1 name"/>
          <p:cNvSpPr txBox="1"/>
          <p:nvPr/>
        </p:nvSpPr>
        <p:spPr>
          <a:xfrm>
            <a:off x="731520" y="4168766"/>
            <a:ext cx="2531287" cy="420624"/>
          </a:xfrm>
          <a:prstGeom prst="rect">
            <a:avLst/>
          </a:prstGeom>
          <a:noFill/>
        </p:spPr>
        <p:txBody>
          <a:bodyPr wrap="square" lIns="0" rIns="0" tIns="0" bIns="0" anchor="t">
            <a:noAutofit/>
          </a:bodyPr>
          <a:lstStyle/>
          <a:p>
            <a:pPr algn="l">
              <a:lnSpc>
                <a:spcPct val="110000"/>
              </a:lnSpc>
              <a:spcBef>
                <a:spcPts val="0"/>
              </a:spcBef>
              <a:spcAft>
                <a:spcPts val="0"/>
              </a:spcAft>
            </a:pPr>
            <a:r>
              <a:rPr sz="2400" b="1" lang="en-GB">
                <a:solidFill>
                  <a:srgbClr val="E9EEF3"/>
                </a:solidFill>
                <a:latin typeface="Atkinson Hyperlegible"/>
                <a:ea typeface="Atkinson Hyperlegible"/>
                <a:cs typeface="Atkinson Hyperlegible"/>
              </a:rPr>
              <a:t>Earth Analyst</a:t>
            </a:r>
          </a:p>
        </p:txBody>
      </p:sp>
      <p:sp>
        <p:nvSpPr>
          <p:cNvPr id="6" name="Act 1 line"/>
          <p:cNvSpPr txBox="1"/>
          <p:nvPr/>
        </p:nvSpPr>
        <p:spPr>
          <a:xfrm>
            <a:off x="731520" y="4671686"/>
            <a:ext cx="2531287" cy="1005840"/>
          </a:xfrm>
          <a:prstGeom prst="rect">
            <a:avLst/>
          </a:prstGeom>
          <a:noFill/>
        </p:spPr>
        <p:txBody>
          <a:bodyPr wrap="square" lIns="0" rIns="0" tIns="0" bIns="0" anchor="t">
            <a:noAutofit/>
          </a:bodyPr>
          <a:lstStyle/>
          <a:p>
            <a:pPr algn="l">
              <a:lnSpc>
                <a:spcPct val="105000"/>
              </a:lnSpc>
              <a:spcBef>
                <a:spcPts val="0"/>
              </a:spcBef>
              <a:spcAft>
                <a:spcPts val="0"/>
              </a:spcAft>
            </a:pPr>
            <a:r>
              <a:rPr sz="2000" b="0" lang="en-GB">
                <a:solidFill>
                  <a:srgbClr val="E9EEF3"/>
                </a:solidFill>
                <a:latin typeface="Atkinson Hyperlegible"/>
                <a:ea typeface="Atkinson Hyperlegible"/>
                <a:cs typeface="Atkinson Hyperlegible"/>
              </a:rPr>
              <a:t>Reads imagery, finds similar places</a:t>
            </a:r>
          </a:p>
        </p:txBody>
      </p:sp>
      <p:pic>
        <p:nvPicPr>
          <p:cNvPr id="15" name="Act 4 screenshot" descr="AI Archaeologist on the stage: 1 m LiDAR hillshade of the Newark Octagon and Great Circle, a World Heritage site."/>
          <p:cNvPicPr>
            <a:picLocks noChangeAspect="1"/>
          </p:cNvPicPr>
          <p:nvPr/>
        </p:nvPicPr>
        <p:blipFill>
          <a:blip r:embed="rId5"/>
          <a:stretch>
            <a:fillRect/>
          </a:stretch>
        </p:blipFill>
        <p:spPr>
          <a:xfrm>
            <a:off x="3463975" y="2057400"/>
            <a:ext cx="2531287" cy="1855334"/>
          </a:xfrm>
          <a:prstGeom prst="roundRect">
            <a:avLst>
              <a:gd name="adj" fmla="val 3500"/>
            </a:avLst>
          </a:prstGeom>
          <a:ln w="12700">
            <a:solidFill>
              <a:srgbClr val="43484F"/>
            </a:solidFill>
          </a:ln>
        </p:spPr>
      </p:pic>
      <p:sp>
        <p:nvSpPr>
          <p:cNvPr id="16" name="Act 4 number"/>
          <p:cNvSpPr/>
          <p:nvPr/>
        </p:nvSpPr>
        <p:spPr>
          <a:xfrm>
            <a:off x="3564559" y="2157984"/>
            <a:ext cx="384048" cy="384048"/>
          </a:xfrm>
          <a:prstGeom prst="ellipse">
            <a:avLst/>
          </a:prstGeom>
          <a:solidFill>
            <a:srgbClr val="1D2530"/>
          </a:solidFill>
          <a:ln w="12700">
            <a:solidFill>
              <a:srgbClr val="43484F"/>
            </a:solidFill>
          </a:ln>
        </p:spPr>
        <p:txBody>
          <a:bodyPr rtlCol="0" anchor="ctr" lIns="0" rIns="0" tIns="0" bIns="0" wrap="none"/>
          <a:lstStyle/>
          <a:p>
            <a:pPr algn="ctr"/>
            <a:r>
              <a:rPr sz="2000" b="1" lang="en-GB">
                <a:solidFill>
                  <a:srgbClr val="E9EEF3"/>
                </a:solidFill>
                <a:latin typeface="Menlo"/>
                <a:ea typeface="Menlo"/>
                <a:cs typeface="Menlo"/>
              </a:rPr>
              <a:t>2</a:t>
            </a:r>
          </a:p>
        </p:txBody>
      </p:sp>
      <p:sp>
        <p:nvSpPr>
          <p:cNvPr id="17" name="Act 4 name"/>
          <p:cNvSpPr txBox="1"/>
          <p:nvPr/>
        </p:nvSpPr>
        <p:spPr>
          <a:xfrm>
            <a:off x="3463975" y="4168766"/>
            <a:ext cx="2531287" cy="420624"/>
          </a:xfrm>
          <a:prstGeom prst="rect">
            <a:avLst/>
          </a:prstGeom>
          <a:noFill/>
        </p:spPr>
        <p:txBody>
          <a:bodyPr wrap="square" lIns="0" rIns="0" tIns="0" bIns="0" anchor="t">
            <a:noAutofit/>
          </a:bodyPr>
          <a:lstStyle/>
          <a:p>
            <a:pPr algn="l">
              <a:lnSpc>
                <a:spcPct val="110000"/>
              </a:lnSpc>
              <a:spcBef>
                <a:spcPts val="0"/>
              </a:spcBef>
              <a:spcAft>
                <a:spcPts val="0"/>
              </a:spcAft>
            </a:pPr>
            <a:r>
              <a:rPr sz="2400" b="1" lang="en-GB">
                <a:solidFill>
                  <a:srgbClr val="E9EEF3"/>
                </a:solidFill>
                <a:latin typeface="Atkinson Hyperlegible"/>
                <a:ea typeface="Atkinson Hyperlegible"/>
                <a:cs typeface="Atkinson Hyperlegible"/>
              </a:rPr>
              <a:t>AI Archaeologist</a:t>
            </a:r>
          </a:p>
        </p:txBody>
      </p:sp>
      <p:sp>
        <p:nvSpPr>
          <p:cNvPr id="18" name="Act 4 line"/>
          <p:cNvSpPr txBox="1"/>
          <p:nvPr/>
        </p:nvSpPr>
        <p:spPr>
          <a:xfrm>
            <a:off x="3463975" y="4671686"/>
            <a:ext cx="2531287" cy="1005840"/>
          </a:xfrm>
          <a:prstGeom prst="rect">
            <a:avLst/>
          </a:prstGeom>
          <a:noFill/>
        </p:spPr>
        <p:txBody>
          <a:bodyPr wrap="square" lIns="0" rIns="0" tIns="0" bIns="0" anchor="t">
            <a:noAutofit/>
          </a:bodyPr>
          <a:lstStyle/>
          <a:p>
            <a:pPr algn="l">
              <a:lnSpc>
                <a:spcPct val="105000"/>
              </a:lnSpc>
              <a:spcBef>
                <a:spcPts val="0"/>
              </a:spcBef>
              <a:spcAft>
                <a:spcPts val="0"/>
              </a:spcAft>
            </a:pPr>
            <a:r>
              <a:rPr sz="2000" b="0" lang="en-GB">
                <a:solidFill>
                  <a:srgbClr val="E9EEF3"/>
                </a:solidFill>
                <a:latin typeface="Atkinson Hyperlegible"/>
                <a:ea typeface="Atkinson Hyperlegible"/>
                <a:cs typeface="Atkinson Hyperlegible"/>
              </a:rPr>
              <a:t>LiDAR of known, public sites</a:t>
            </a:r>
          </a:p>
        </p:txBody>
      </p:sp>
      <p:pic>
        <p:nvPicPr>
          <p:cNvPr id="7" name="Act 2 screenshot" descr="Methane Hunter on the stage: a globe in space with repeat methane sites as dots and rings, and dashed watch-area outlines."/>
          <p:cNvPicPr>
            <a:picLocks noChangeAspect="1"/>
          </p:cNvPicPr>
          <p:nvPr/>
        </p:nvPicPr>
        <p:blipFill>
          <a:blip r:embed="rId3"/>
          <a:stretch>
            <a:fillRect/>
          </a:stretch>
        </p:blipFill>
        <p:spPr>
          <a:xfrm>
            <a:off x="6196431" y="2057400"/>
            <a:ext cx="2531287" cy="1855334"/>
          </a:xfrm>
          <a:prstGeom prst="roundRect">
            <a:avLst>
              <a:gd name="adj" fmla="val 3500"/>
            </a:avLst>
          </a:prstGeom>
          <a:ln w="12700">
            <a:solidFill>
              <a:srgbClr val="43484F"/>
            </a:solidFill>
          </a:ln>
        </p:spPr>
      </p:pic>
      <p:sp>
        <p:nvSpPr>
          <p:cNvPr id="8" name="Act 2 number"/>
          <p:cNvSpPr/>
          <p:nvPr/>
        </p:nvSpPr>
        <p:spPr>
          <a:xfrm>
            <a:off x="6297015" y="2157984"/>
            <a:ext cx="384048" cy="384048"/>
          </a:xfrm>
          <a:prstGeom prst="ellipse">
            <a:avLst/>
          </a:prstGeom>
          <a:solidFill>
            <a:srgbClr val="1D2530"/>
          </a:solidFill>
          <a:ln w="12700">
            <a:solidFill>
              <a:srgbClr val="43484F"/>
            </a:solidFill>
          </a:ln>
        </p:spPr>
        <p:txBody>
          <a:bodyPr rtlCol="0" anchor="ctr" lIns="0" rIns="0" tIns="0" bIns="0" wrap="none"/>
          <a:lstStyle/>
          <a:p>
            <a:pPr algn="ctr"/>
            <a:r>
              <a:rPr sz="2000" b="1" lang="en-GB">
                <a:solidFill>
                  <a:srgbClr val="E9EEF3"/>
                </a:solidFill>
                <a:latin typeface="Menlo"/>
                <a:ea typeface="Menlo"/>
                <a:cs typeface="Menlo"/>
              </a:rPr>
              <a:t>3</a:t>
            </a:r>
          </a:p>
        </p:txBody>
      </p:sp>
      <p:sp>
        <p:nvSpPr>
          <p:cNvPr id="9" name="Act 2 name"/>
          <p:cNvSpPr txBox="1"/>
          <p:nvPr/>
        </p:nvSpPr>
        <p:spPr>
          <a:xfrm>
            <a:off x="6196431" y="4168766"/>
            <a:ext cx="2531287" cy="420624"/>
          </a:xfrm>
          <a:prstGeom prst="rect">
            <a:avLst/>
          </a:prstGeom>
          <a:noFill/>
        </p:spPr>
        <p:txBody>
          <a:bodyPr wrap="square" lIns="0" rIns="0" tIns="0" bIns="0" anchor="t">
            <a:noAutofit/>
          </a:bodyPr>
          <a:lstStyle/>
          <a:p>
            <a:pPr algn="l">
              <a:lnSpc>
                <a:spcPct val="110000"/>
              </a:lnSpc>
              <a:spcBef>
                <a:spcPts val="0"/>
              </a:spcBef>
              <a:spcAft>
                <a:spcPts val="0"/>
              </a:spcAft>
            </a:pPr>
            <a:r>
              <a:rPr sz="2400" b="1" lang="en-GB">
                <a:solidFill>
                  <a:srgbClr val="E9EEF3"/>
                </a:solidFill>
                <a:latin typeface="Atkinson Hyperlegible"/>
                <a:ea typeface="Atkinson Hyperlegible"/>
                <a:cs typeface="Atkinson Hyperlegible"/>
              </a:rPr>
              <a:t>Methane Hunter</a:t>
            </a:r>
          </a:p>
        </p:txBody>
      </p:sp>
      <p:sp>
        <p:nvSpPr>
          <p:cNvPr id="10" name="Act 2 line"/>
          <p:cNvSpPr txBox="1"/>
          <p:nvPr/>
        </p:nvSpPr>
        <p:spPr>
          <a:xfrm>
            <a:off x="6196431" y="4671686"/>
            <a:ext cx="2531287" cy="1005840"/>
          </a:xfrm>
          <a:prstGeom prst="rect">
            <a:avLst/>
          </a:prstGeom>
          <a:noFill/>
        </p:spPr>
        <p:txBody>
          <a:bodyPr wrap="square" lIns="0" rIns="0" tIns="0" bIns="0" anchor="t">
            <a:noAutofit/>
          </a:bodyPr>
          <a:lstStyle/>
          <a:p>
            <a:pPr algn="l">
              <a:lnSpc>
                <a:spcPct val="105000"/>
              </a:lnSpc>
              <a:spcBef>
                <a:spcPts val="0"/>
              </a:spcBef>
              <a:spcAft>
                <a:spcPts val="0"/>
              </a:spcAft>
            </a:pPr>
            <a:r>
              <a:rPr sz="2000" b="0" lang="en-GB">
                <a:solidFill>
                  <a:srgbClr val="E9EEF3"/>
                </a:solidFill>
                <a:latin typeface="Atkinson Hyperlegible"/>
                <a:ea typeface="Atkinson Hyperlegible"/>
                <a:cs typeface="Atkinson Hyperlegible"/>
              </a:rPr>
              <a:t>From satellite tip to draft brief</a:t>
            </a:r>
          </a:p>
        </p:txBody>
      </p:sp>
      <p:pic>
        <p:nvPicPr>
          <p:cNvPr id="11" name="Act 3 screenshot" descr="Dark Vessels on the stage: Santa Cruz and San Cristóbal in the Galápagos at night, radar targets as rings and four candidates in orchid marked no AIS."/>
          <p:cNvPicPr>
            <a:picLocks noChangeAspect="1"/>
          </p:cNvPicPr>
          <p:nvPr/>
        </p:nvPicPr>
        <p:blipFill>
          <a:blip r:embed="rId4"/>
          <a:stretch>
            <a:fillRect/>
          </a:stretch>
        </p:blipFill>
        <p:spPr>
          <a:xfrm>
            <a:off x="8928887" y="2057400"/>
            <a:ext cx="2531287" cy="1855334"/>
          </a:xfrm>
          <a:prstGeom prst="roundRect">
            <a:avLst>
              <a:gd name="adj" fmla="val 3500"/>
            </a:avLst>
          </a:prstGeom>
          <a:ln w="12700">
            <a:solidFill>
              <a:srgbClr val="43484F"/>
            </a:solidFill>
          </a:ln>
        </p:spPr>
      </p:pic>
      <p:sp>
        <p:nvSpPr>
          <p:cNvPr id="12" name="Act 3 number"/>
          <p:cNvSpPr/>
          <p:nvPr/>
        </p:nvSpPr>
        <p:spPr>
          <a:xfrm>
            <a:off x="9029471" y="2157984"/>
            <a:ext cx="384048" cy="384048"/>
          </a:xfrm>
          <a:prstGeom prst="ellipse">
            <a:avLst/>
          </a:prstGeom>
          <a:solidFill>
            <a:srgbClr val="1D2530"/>
          </a:solidFill>
          <a:ln w="12700">
            <a:solidFill>
              <a:srgbClr val="43484F"/>
            </a:solidFill>
          </a:ln>
        </p:spPr>
        <p:txBody>
          <a:bodyPr rtlCol="0" anchor="ctr" lIns="0" rIns="0" tIns="0" bIns="0" wrap="none"/>
          <a:lstStyle/>
          <a:p>
            <a:pPr algn="ctr"/>
            <a:r>
              <a:rPr sz="2000" b="1" lang="en-GB">
                <a:solidFill>
                  <a:srgbClr val="E9EEF3"/>
                </a:solidFill>
                <a:latin typeface="Menlo"/>
                <a:ea typeface="Menlo"/>
                <a:cs typeface="Menlo"/>
              </a:rPr>
              <a:t>4</a:t>
            </a:r>
          </a:p>
        </p:txBody>
      </p:sp>
      <p:sp>
        <p:nvSpPr>
          <p:cNvPr id="13" name="Act 3 name"/>
          <p:cNvSpPr txBox="1"/>
          <p:nvPr/>
        </p:nvSpPr>
        <p:spPr>
          <a:xfrm>
            <a:off x="8928887" y="4168766"/>
            <a:ext cx="2531287" cy="420624"/>
          </a:xfrm>
          <a:prstGeom prst="rect">
            <a:avLst/>
          </a:prstGeom>
          <a:noFill/>
        </p:spPr>
        <p:txBody>
          <a:bodyPr wrap="square" lIns="0" rIns="0" tIns="0" bIns="0" anchor="t">
            <a:noAutofit/>
          </a:bodyPr>
          <a:lstStyle/>
          <a:p>
            <a:pPr algn="l">
              <a:lnSpc>
                <a:spcPct val="110000"/>
              </a:lnSpc>
              <a:spcBef>
                <a:spcPts val="0"/>
              </a:spcBef>
              <a:spcAft>
                <a:spcPts val="0"/>
              </a:spcAft>
            </a:pPr>
            <a:r>
              <a:rPr sz="2400" b="1" lang="en-GB">
                <a:solidFill>
                  <a:srgbClr val="E9EEF3"/>
                </a:solidFill>
                <a:latin typeface="Atkinson Hyperlegible"/>
                <a:ea typeface="Atkinson Hyperlegible"/>
                <a:cs typeface="Atkinson Hyperlegible"/>
              </a:rPr>
              <a:t>Dark Vessels</a:t>
            </a:r>
          </a:p>
        </p:txBody>
      </p:sp>
      <p:sp>
        <p:nvSpPr>
          <p:cNvPr id="14" name="Act 3 line"/>
          <p:cNvSpPr txBox="1"/>
          <p:nvPr/>
        </p:nvSpPr>
        <p:spPr>
          <a:xfrm>
            <a:off x="8928887" y="4671686"/>
            <a:ext cx="2531287" cy="1005840"/>
          </a:xfrm>
          <a:prstGeom prst="rect">
            <a:avLst/>
          </a:prstGeom>
          <a:noFill/>
        </p:spPr>
        <p:txBody>
          <a:bodyPr wrap="square" lIns="0" rIns="0" tIns="0" bIns="0" anchor="t">
            <a:noAutofit/>
          </a:bodyPr>
          <a:lstStyle/>
          <a:p>
            <a:pPr algn="l">
              <a:lnSpc>
                <a:spcPct val="105000"/>
              </a:lnSpc>
              <a:spcBef>
                <a:spcPts val="0"/>
              </a:spcBef>
              <a:spcAft>
                <a:spcPts val="0"/>
              </a:spcAft>
            </a:pPr>
            <a:r>
              <a:rPr sz="2000" b="0" lang="en-GB">
                <a:solidFill>
                  <a:srgbClr val="E9EEF3"/>
                </a:solidFill>
                <a:latin typeface="Atkinson Hyperlegible"/>
                <a:ea typeface="Atkinson Hyperlegible"/>
                <a:cs typeface="Atkinson Hyperlegible"/>
              </a:rPr>
              <a:t>Spots silent ships, plans the patrol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41B"/>
        </a:solidFill>
        <a:effectLst/>
      </p:bgPr>
    </p:bg>
    <p:spTree>
      <p:nvGrpSpPr>
        <p:cNvPr id="1" name=""/>
        <p:cNvGrpSpPr/>
        <p:nvPr/>
      </p:nvGrpSpPr>
      <p:grpSpPr/>
      <p:sp>
        <p:nvSpPr>
          <p:cNvPr id="2" name="Title"/>
          <p:cNvSpPr>
            <a:spLocks noGrp="1"/>
          </p:cNvSpPr>
          <p:nvPr>
            <p:ph type="title"/>
          </p:nvPr>
        </p:nvSpPr>
        <p:spPr>
          <a:xfrm>
            <a:off x="731520" y="548640"/>
            <a:ext cx="10728655" cy="731520"/>
          </a:xfrm>
          <a:prstGeom prst="rect">
            <a:avLst/>
          </a:prstGeom>
          <a:noFill/>
        </p:spPr>
        <p:txBody>
          <a:bodyPr wrap="square" lIns="0" rIns="0" tIns="0" bIns="0" anchor="t">
            <a:noAutofit/>
          </a:bodyPr>
          <a:lstStyle/>
          <a:p>
            <a:pPr algn="l">
              <a:lnSpc>
                <a:spcPct val="100000"/>
              </a:lnSpc>
              <a:spcBef>
                <a:spcPts val="0"/>
              </a:spcBef>
              <a:spcAft>
                <a:spcPts val="0"/>
              </a:spcAft>
            </a:pPr>
            <a:r>
              <a:rPr sz="4000" b="1" lang="en-GB">
                <a:solidFill>
                  <a:srgbClr val="E9EEF3"/>
                </a:solidFill>
                <a:latin typeface="Atkinson Hyperlegible"/>
                <a:ea typeface="Atkinson Hyperlegible"/>
                <a:cs typeface="Atkinson Hyperlegible"/>
              </a:rPr>
              <a:t>What you just saw</a:t>
            </a:r>
          </a:p>
        </p:txBody>
      </p:sp>
      <p:sp>
        <p:nvSpPr>
          <p:cNvPr id="3" name="Saw 1"/>
          <p:cNvSpPr txBox="1"/>
          <p:nvPr/>
        </p:nvSpPr>
        <p:spPr>
          <a:xfrm>
            <a:off x="1280160" y="1783080"/>
            <a:ext cx="10180015" cy="1024128"/>
          </a:xfrm>
          <a:prstGeom prst="rect">
            <a:avLst/>
          </a:prstGeom>
          <a:noFill/>
        </p:spPr>
        <p:txBody>
          <a:bodyPr wrap="square" lIns="0" rIns="0" tIns="0" bIns="0" anchor="t">
            <a:noAutofit/>
          </a:bodyPr>
          <a:lstStyle/>
          <a:p>
            <a:pPr algn="l">
              <a:lnSpc>
                <a:spcPct val="100000"/>
              </a:lnSpc>
              <a:spcBef>
                <a:spcPts val="0"/>
              </a:spcBef>
              <a:spcAft>
                <a:spcPts val="0"/>
              </a:spcAft>
            </a:pPr>
            <a:r>
              <a:rPr sz="3200" b="0" lang="en-GB">
                <a:solidFill>
                  <a:srgbClr val="E9EEF3"/>
                </a:solidFill>
                <a:latin typeface="Atkinson Hyperlegible"/>
                <a:ea typeface="Atkinson Hyperlegible"/>
                <a:cs typeface="Atkinson Hyperlegible"/>
              </a:rPr>
              <a:t>The agents chose their tools,</a:t>
            </a:r>
            <a:br>
              <a:rPr sz="3200" b="0" lang="en-GB">
                <a:solidFill>
                  <a:srgbClr val="E9EEF3"/>
                </a:solidFill>
                <a:latin typeface="Atkinson Hyperlegible"/>
                <a:ea typeface="Atkinson Hyperlegible"/>
                <a:cs typeface="Atkinson Hyperlegible"/>
              </a:rPr>
            </a:br>
            <a:r>
              <a:rPr sz="3200" b="0" lang="en-GB">
                <a:solidFill>
                  <a:srgbClr val="E9EEF3"/>
                </a:solidFill>
                <a:latin typeface="Atkinson Hyperlegible"/>
                <a:ea typeface="Atkinson Hyperlegible"/>
                <a:cs typeface="Atkinson Hyperlegible"/>
              </a:rPr>
              <a:t>looked before they measured, and showed their reasons</a:t>
            </a:r>
          </a:p>
        </p:txBody>
      </p:sp>
      <p:sp>
        <p:nvSpPr>
          <p:cNvPr id="4" name="Saw 2"/>
          <p:cNvSpPr txBox="1"/>
          <p:nvPr/>
        </p:nvSpPr>
        <p:spPr>
          <a:xfrm>
            <a:off x="1280160" y="3108960"/>
            <a:ext cx="10180015" cy="1024128"/>
          </a:xfrm>
          <a:prstGeom prst="rect">
            <a:avLst/>
          </a:prstGeom>
          <a:noFill/>
        </p:spPr>
        <p:txBody>
          <a:bodyPr wrap="square" lIns="0" rIns="0" tIns="0" bIns="0" anchor="t">
            <a:noAutofit/>
          </a:bodyPr>
          <a:lstStyle/>
          <a:p>
            <a:pPr algn="l">
              <a:lnSpc>
                <a:spcPct val="100000"/>
              </a:lnSpc>
              <a:spcBef>
                <a:spcPts val="0"/>
              </a:spcBef>
              <a:spcAft>
                <a:spcPts val="0"/>
              </a:spcAft>
            </a:pPr>
            <a:r>
              <a:rPr sz="3200" b="0" lang="en-GB">
                <a:solidFill>
                  <a:srgbClr val="E9EEF3"/>
                </a:solidFill>
                <a:latin typeface="Atkinson Hyperlegible"/>
                <a:ea typeface="Atkinson Hyperlegible"/>
                <a:cs typeface="Atkinson Hyperlegible"/>
              </a:rPr>
              <a:t>The agent does the legwork and drafts;</a:t>
            </a:r>
            <a:br>
              <a:rPr sz="3200" b="0" lang="en-GB">
                <a:solidFill>
                  <a:srgbClr val="E9EEF3"/>
                </a:solidFill>
                <a:latin typeface="Atkinson Hyperlegible"/>
                <a:ea typeface="Atkinson Hyperlegible"/>
                <a:cs typeface="Atkinson Hyperlegible"/>
              </a:rPr>
            </a:br>
            <a:r>
              <a:rPr sz="3200" b="0" lang="en-GB">
                <a:solidFill>
                  <a:srgbClr val="E9EEF3"/>
                </a:solidFill>
                <a:latin typeface="Atkinson Hyperlegible"/>
                <a:ea typeface="Atkinson Hyperlegible"/>
                <a:cs typeface="Atkinson Hyperlegible"/>
              </a:rPr>
              <a:t>the analyst or officer decides</a:t>
            </a:r>
          </a:p>
        </p:txBody>
      </p:sp>
      <p:sp>
        <p:nvSpPr>
          <p:cNvPr id="5" name="Saw 3"/>
          <p:cNvSpPr txBox="1"/>
          <p:nvPr/>
        </p:nvSpPr>
        <p:spPr>
          <a:xfrm>
            <a:off x="1280160" y="4434840"/>
            <a:ext cx="10180015" cy="1024128"/>
          </a:xfrm>
          <a:prstGeom prst="rect">
            <a:avLst/>
          </a:prstGeom>
          <a:noFill/>
        </p:spPr>
        <p:txBody>
          <a:bodyPr wrap="square" lIns="0" rIns="0" tIns="0" bIns="0" anchor="t">
            <a:noAutofit/>
          </a:bodyPr>
          <a:lstStyle/>
          <a:p>
            <a:pPr algn="l">
              <a:lnSpc>
                <a:spcPct val="100000"/>
              </a:lnSpc>
              <a:spcBef>
                <a:spcPts val="0"/>
              </a:spcBef>
              <a:spcAft>
                <a:spcPts val="0"/>
              </a:spcAft>
            </a:pPr>
            <a:r>
              <a:rPr sz="3200" b="0" lang="en-GB">
                <a:solidFill>
                  <a:srgbClr val="E9EEF3"/>
                </a:solidFill>
                <a:latin typeface="Atkinson Hyperlegible"/>
                <a:ea typeface="Atkinson Hyperlegible"/>
                <a:cs typeface="Atkinson Hyperlegible"/>
              </a:rPr>
              <a:t>One platform: each agent is its own runtime</a:t>
            </a:r>
            <a:br>
              <a:rPr sz="3200" b="0" lang="en-GB">
                <a:solidFill>
                  <a:srgbClr val="E9EEF3"/>
                </a:solidFill>
                <a:latin typeface="Atkinson Hyperlegible"/>
                <a:ea typeface="Atkinson Hyperlegible"/>
                <a:cs typeface="Atkinson Hyperlegible"/>
              </a:rPr>
            </a:br>
            <a:r>
              <a:rPr sz="3200" b="0" lang="en-GB">
                <a:solidFill>
                  <a:srgbClr val="E9EEF3"/>
                </a:solidFill>
                <a:latin typeface="Atkinson Hyperlegible"/>
                <a:ea typeface="Atkinson Hyperlegible"/>
                <a:cs typeface="Atkinson Hyperlegible"/>
              </a:rPr>
              <a:t>on Amazon Bedrock AgentCore</a:t>
            </a:r>
          </a:p>
        </p:txBody>
      </p:sp>
      <p:cxnSp>
        <p:nvCxnSpPr>
          <p:cNvPr id="6" name="Saw rail"/>
          <p:cNvCxnSpPr/>
          <p:nvPr/>
        </p:nvCxnSpPr>
        <p:spPr>
          <a:xfrm>
            <a:off x="841248" y="2067458"/>
            <a:ext cx="0" cy="2651760"/>
          </a:xfrm>
          <a:prstGeom prst="line">
            <a:avLst/>
          </a:prstGeom>
          <a:ln w="19050">
            <a:solidFill>
              <a:srgbClr val="43484F"/>
            </a:solidFill>
          </a:ln>
        </p:spPr>
      </p:cxnSp>
      <p:sp>
        <p:nvSpPr>
          <p:cNvPr id="7" name="Saw dot 1"/>
          <p:cNvSpPr/>
          <p:nvPr/>
        </p:nvSpPr>
        <p:spPr>
          <a:xfrm>
            <a:off x="749808" y="1976018"/>
            <a:ext cx="182880" cy="182880"/>
          </a:xfrm>
          <a:prstGeom prst="ellipse">
            <a:avLst/>
          </a:prstGeom>
          <a:solidFill>
            <a:srgbClr val="8FA3B8"/>
          </a:solidFill>
          <a:ln>
            <a:noFill/>
          </a:ln>
        </p:spPr>
        <p:txBody>
          <a:bodyPr rtlCol="0" anchor="ctr"/>
          <a:lstStyle/>
          <a:p>
            <a:pPr algn="ctr"/>
          </a:p>
        </p:txBody>
      </p:sp>
      <p:sp>
        <p:nvSpPr>
          <p:cNvPr id="8" name="Saw dot 2"/>
          <p:cNvSpPr/>
          <p:nvPr/>
        </p:nvSpPr>
        <p:spPr>
          <a:xfrm>
            <a:off x="731520" y="3283610"/>
            <a:ext cx="219456" cy="219456"/>
          </a:xfrm>
          <a:prstGeom prst="ellipse">
            <a:avLst/>
          </a:prstGeom>
          <a:solidFill>
            <a:srgbClr val="F5A524"/>
          </a:solidFill>
          <a:ln>
            <a:noFill/>
          </a:ln>
        </p:spPr>
        <p:txBody>
          <a:bodyPr rtlCol="0" anchor="ctr"/>
          <a:lstStyle/>
          <a:p>
            <a:pPr algn="ctr"/>
          </a:p>
        </p:txBody>
      </p:sp>
      <p:sp>
        <p:nvSpPr>
          <p:cNvPr id="9" name="Saw dot 3"/>
          <p:cNvSpPr/>
          <p:nvPr/>
        </p:nvSpPr>
        <p:spPr>
          <a:xfrm>
            <a:off x="749808" y="4627778"/>
            <a:ext cx="182880" cy="182880"/>
          </a:xfrm>
          <a:prstGeom prst="ellipse">
            <a:avLst/>
          </a:prstGeom>
          <a:solidFill>
            <a:srgbClr val="8FA3B8"/>
          </a:solidFill>
          <a:ln>
            <a:noFill/>
          </a:ln>
        </p:spPr>
        <p:txBody>
          <a:bodyPr rtlCol="0" anchor="ctr"/>
          <a:lstStyle/>
          <a:p>
            <a:pPr algn="ctr"/>
          </a:p>
        </p:txBody>
      </p:sp>
      <p:sp>
        <p:nvSpPr>
          <p:cNvPr id="10" name="Call to action"/>
          <p:cNvSpPr txBox="1"/>
          <p:nvPr/>
        </p:nvSpPr>
        <p:spPr>
          <a:xfrm>
            <a:off x="731520" y="5852160"/>
            <a:ext cx="10728655" cy="411480"/>
          </a:xfrm>
          <a:prstGeom prst="rect">
            <a:avLst/>
          </a:prstGeom>
          <a:noFill/>
        </p:spPr>
        <p:txBody>
          <a:bodyPr wrap="square" lIns="0" rIns="0" tIns="0" bIns="0" anchor="t">
            <a:noAutofit/>
          </a:bodyPr>
          <a:lstStyle/>
          <a:p>
            <a:pPr algn="l">
              <a:lnSpc>
                <a:spcPct val="110000"/>
              </a:lnSpc>
              <a:spcBef>
                <a:spcPts val="0"/>
              </a:spcBef>
              <a:spcAft>
                <a:spcPts val="0"/>
              </a:spcAft>
            </a:pPr>
            <a:r>
              <a:rPr sz="2400" b="0" lang="en-GB">
                <a:solidFill>
                  <a:srgbClr val="8FA3B8"/>
                </a:solidFill>
                <a:latin typeface="Atkinson Hyperlegible"/>
                <a:ea typeface="Atkinson Hyperlegible"/>
                <a:cs typeface="Atkinson Hyperlegible"/>
              </a:rPr>
              <a:t>[Your call to action]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41B"/>
        </a:solidFill>
        <a:effectLst/>
      </p:bgPr>
    </p:bg>
    <p:spTree>
      <p:nvGrpSpPr>
        <p:cNvPr id="1" name=""/>
        <p:cNvGrpSpPr/>
        <p:nvPr/>
      </p:nvGrpSpPr>
      <p:grpSpPr/>
      <p:sp>
        <p:nvSpPr>
          <p:cNvPr id="2" name="Title"/>
          <p:cNvSpPr>
            <a:spLocks noGrp="1"/>
          </p:cNvSpPr>
          <p:nvPr>
            <p:ph type="title"/>
          </p:nvPr>
        </p:nvSpPr>
        <p:spPr>
          <a:xfrm>
            <a:off x="731520" y="548640"/>
            <a:ext cx="10728655" cy="731520"/>
          </a:xfrm>
          <a:prstGeom prst="rect">
            <a:avLst/>
          </a:prstGeom>
          <a:noFill/>
        </p:spPr>
        <p:txBody>
          <a:bodyPr wrap="square" lIns="0" rIns="0" tIns="0" bIns="0" anchor="t">
            <a:noAutofit/>
          </a:bodyPr>
          <a:lstStyle/>
          <a:p>
            <a:pPr algn="l">
              <a:lnSpc>
                <a:spcPct val="100000"/>
              </a:lnSpc>
              <a:spcBef>
                <a:spcPts val="0"/>
              </a:spcBef>
              <a:spcAft>
                <a:spcPts val="0"/>
              </a:spcAft>
            </a:pPr>
            <a:r>
              <a:rPr sz="4000" b="1" lang="en-GB">
                <a:solidFill>
                  <a:srgbClr val="E9EEF3"/>
                </a:solidFill>
                <a:latin typeface="Atkinson Hyperlegible"/>
                <a:ea typeface="Atkinson Hyperlegible"/>
                <a:cs typeface="Atkinson Hyperlegible"/>
              </a:rPr>
              <a:t>How it’s built</a:t>
            </a:r>
          </a:p>
        </p:txBody>
      </p:sp>
      <p:sp>
        <p:nvSpPr>
          <p:cNvPr id="3" name="Diagram panel"/>
          <p:cNvSpPr/>
          <p:nvPr/>
        </p:nvSpPr>
        <p:spPr>
          <a:xfrm>
            <a:off x="280415" y="1371600"/>
            <a:ext cx="11631167" cy="5140105"/>
          </a:xfrm>
          <a:prstGeom prst="roundRect">
            <a:avLst>
              <a:gd name="adj" fmla="val 213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Architecture diagram" descr="Architecture, left to right. The analyst or officer asks and approves in the web app: Amazon CloudFront in front of a React frontend and API backend on AWS Fargate. The web app invokes four agents in one Amazon Bedrock AgentCore group, one runtime each: Earth Analyst, AI Archaeologist, Methane Hunter and Dark Vessels. The agents make model calls to Claude Sonnet 4.6, in its own Amazon Bedrock box. The agents read the data sources: Amazon S3 sessions and caches; NASA EMIT methane plumes and FIRMS active fires; AWS Open Data Sentinel-2 imagery, Sentinel-5P methane, Overture Maps and Clay v1.5 embeddings via a Lambda fan-out; and other providers: Esri ArcGIS MCP server, OpenStreetMap, ESA Sentinel-1 plans, Global Fishing Watch, Carbon Mapper plumes, USGS 3DEP LiDAR, OGIM and GEM registries, and Sentinel-1 radar via Microsoft Planetary Computer. On approval the web app files to Amazon S3 and posts to Slack."/>
          <p:cNvPicPr>
            <a:picLocks noChangeAspect="1"/>
          </p:cNvPicPr>
          <p:nvPr/>
        </p:nvPicPr>
        <p:blipFill>
          <a:blip r:embed="rId4"/>
          <a:stretch>
            <a:fillRect/>
          </a:stretch>
        </p:blipFill>
        <p:spPr>
          <a:xfrm>
            <a:off x="599846" y="1426464"/>
            <a:ext cx="10992305" cy="5030377"/>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41B"/>
        </a:solidFill>
        <a:effectLst/>
      </p:bgPr>
    </p:bg>
    <p:spTree>
      <p:nvGrpSpPr>
        <p:cNvPr id="1" name=""/>
        <p:cNvGrpSpPr/>
        <p:nvPr/>
      </p:nvGrpSpPr>
      <p:grpSpPr/>
      <p:sp>
        <p:nvSpPr>
          <p:cNvPr id="2" name="Title"/>
          <p:cNvSpPr>
            <a:spLocks noGrp="1"/>
          </p:cNvSpPr>
          <p:nvPr>
            <p:ph type="title"/>
          </p:nvPr>
        </p:nvSpPr>
        <p:spPr>
          <a:xfrm>
            <a:off x="457200" y="347472"/>
            <a:ext cx="11274552" cy="548640"/>
          </a:xfrm>
          <a:prstGeom prst="rect">
            <a:avLst/>
          </a:prstGeom>
          <a:noFill/>
        </p:spPr>
        <p:txBody>
          <a:bodyPr wrap="square" lIns="0" rIns="0" tIns="0" bIns="0" anchor="t">
            <a:noAutofit/>
          </a:bodyPr>
          <a:lstStyle/>
          <a:p>
            <a:pPr algn="l">
              <a:lnSpc>
                <a:spcPct val="100000"/>
              </a:lnSpc>
              <a:spcBef>
                <a:spcPts val="0"/>
              </a:spcBef>
              <a:spcAft>
                <a:spcPts val="0"/>
              </a:spcAft>
            </a:pPr>
            <a:r>
              <a:rPr sz="3200" b="1" lang="en-GB">
                <a:solidFill>
                  <a:srgbClr val="E9EEF3"/>
                </a:solidFill>
                <a:latin typeface="Atkinson Hyperlegible"/>
                <a:ea typeface="Atkinson Hyperlegible"/>
                <a:cs typeface="Atkinson Hyperlegible"/>
              </a:rPr>
              <a:t>Backup: the architecture in detail</a:t>
            </a:r>
          </a:p>
        </p:txBody>
      </p:sp>
      <p:sp>
        <p:nvSpPr>
          <p:cNvPr id="3" name="Diagram panel"/>
          <p:cNvSpPr/>
          <p:nvPr/>
        </p:nvSpPr>
        <p:spPr>
          <a:xfrm>
            <a:off x="457200" y="1005839"/>
            <a:ext cx="11274552" cy="5261236"/>
          </a:xfrm>
          <a:prstGeom prst="roundRect">
            <a:avLst>
              <a:gd name="adj" fmla="val 208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Detailed architecture diagram" descr="Detailed architecture. The analyst or officer signs in with Amazon Cognito, loads map tiles from the tile server (Amazon API Gateway and TiTiler on AWS Lambda), and asks and approves through the web app: CloudFront with AWS WAF, an Application Load Balancer, and Amazon ECS on AWS Fargate serving the React frontend and the Express API backend, with the Slack webhook URL from AWS Secrets Manager. The web app invokes four runtimes in the Amazon Bedrock AgentCore group, each a Strands agent with its main tools; they make model calls to Claude Sonnet 4.6 in its own Amazon Bedrock box. The S3 project bucket holds session files and filed briefs and taskings. Data sources by provider: AWS Open Data (Sentinel-2, Sentinel-5P, Overture Maps, Clay embeddings through a Lambda fan-out), NASA (EMIT, FIRMS), other providers (Esri ArcGIS MCP server, OpenStreetMap, ESA Sentinel-1 plans, Sentinel-1 radar from Microsoft Planetary Computer, Global Fishing Watch, USGS 3DEP LiDAR, OGIM and GEM, Carbon Mapper), and Amazon S3 caches written by build scripts. Filed decisions post to Slack."/>
          <p:cNvPicPr>
            <a:picLocks noChangeAspect="1"/>
          </p:cNvPicPr>
          <p:nvPr/>
        </p:nvPicPr>
        <p:blipFill>
          <a:blip r:embed="rId4"/>
          <a:stretch>
            <a:fillRect/>
          </a:stretch>
        </p:blipFill>
        <p:spPr>
          <a:xfrm>
            <a:off x="623537" y="1060704"/>
            <a:ext cx="10941878" cy="515150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tkinson Hyperlegible"/>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for Earth</dc:title>
  <dc:subject>Intro deck for the live demo, 9 November 2026</dc:subject>
  <dc:creator/>
  <cp:keywords>Amazon Bedrock AgentCore; Earth observation; demo</cp:keywords>
  <dc:description>generated using python-pptx</dc:description>
  <cp:lastModifiedBy/>
  <cp:revision>1</cp:revision>
  <dcterms:created xsi:type="dcterms:W3CDTF">2013-01-27T09:14:16Z</dcterms:created>
  <dcterms:modified xsi:type="dcterms:W3CDTF">2013-01-27T09:15:58Z</dcterms:modified>
  <cp:category/>
  <dc:language>en-GB</dc:language>
</cp:coreProperties>
</file>